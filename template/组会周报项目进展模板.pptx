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3" r:id="rId5"/>
    <p:sldId id="262" r:id="rId6"/>
    <p:sldId id="260" r:id="rId7"/>
    <p:sldId id="269" r:id="rId8"/>
    <p:sldId id="261" r:id="rId9"/>
    <p:sldId id="270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EE"/>
    <a:srgbClr val="9B1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79853" autoAdjust="0"/>
  </p:normalViewPr>
  <p:slideViewPr>
    <p:cSldViewPr snapToGrid="0">
      <p:cViewPr varScale="1">
        <p:scale>
          <a:sx n="88" d="100"/>
          <a:sy n="88" d="100"/>
        </p:scale>
        <p:origin x="2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02E45-12BB-4A01-8D94-729241736A64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08976-8D21-4B9C-B0FE-EAC2423F80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标题页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br>
              <a:rPr lang="en-US" altLang="zh-CN" dirty="0"/>
            </a:br>
            <a:r>
              <a:rPr lang="en-US" altLang="zh-CN" dirty="0"/>
              <a:t>1. </a:t>
            </a:r>
            <a:r>
              <a:rPr lang="zh-CN" altLang="en-US" dirty="0"/>
              <a:t>中文标题，英文标题，以及英文副标题（中文标题翻译）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汇报人以及共同作者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77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团队介绍页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团队中文介绍一句话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姓名，负责内容以及照片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721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项目背景文字页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一句话简要概括自己的项目背景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引用文献列表以及插入位置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29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项目背景图片页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一张图展示自己的项目背景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图片描述以及引用文献参考条目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96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项目进度页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本周周一到周五分别的进展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下周周一到周五分别的规划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重要的</a:t>
            </a:r>
            <a:r>
              <a:rPr lang="en-US" altLang="zh-CN" dirty="0"/>
              <a:t>DDL</a:t>
            </a:r>
            <a:r>
              <a:rPr lang="zh-CN" altLang="en-US" dirty="0"/>
              <a:t>时间以及内容，要变色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一句话总结本周进展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87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项目开发类进展汇报页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演示图片或者视频以及编号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演示参考链接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核心推进项内容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目前最大阻碍内容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下一步计划内容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540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文档撰写类进展汇报页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目前已经完成的章节标题以及编号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目前正在进行中的章节标题，该部分主要写作内容以及图片展示，该部分写作参考文献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下一步规划中的章节标题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47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用户实验类进展汇报页</a:t>
            </a:r>
            <a:r>
              <a:rPr lang="en-US" altLang="zh-CN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一句话概括实验目标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自变量，因变量以及条件变量或者无关变量汇总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实验假设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当周进度（包括完成的实验数量，回收的数据类型，完成的分析数量）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针对每个分析的简述，图表对应什么变量的探查，目前正在进行哪个假设的分析，以及相对应的图表展示，以及编号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497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设计项目类进展汇报页</a:t>
            </a:r>
            <a:r>
              <a:rPr lang="en-US" altLang="zh-CN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一句话概括设计目标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一句话概括当周进展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一句话概括下周规划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演示参考图片，链接，以及编号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1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最大困难页</a:t>
            </a:r>
            <a:r>
              <a:rPr lang="en-US" altLang="zh-CN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一句话总结当前项目遇到的最大困难以及自己如何应对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是否需要老师和别的同学的支持？哪方面的支持？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993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需要决策页</a:t>
            </a:r>
            <a:r>
              <a:rPr lang="en-US" altLang="zh-CN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目前哪些地方需要老师或者学长学姐的决策帮助，并且说明自己需要什么形式的帮助，工作或者生活方面都可以，例如，经费支持，人员支持，心理辅导，生理疗养，辅助写作，实习生招募等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08976-8D21-4B9C-B0FE-EAC2423F80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04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3BF02-7D2D-B6C4-DB8D-88B676CC0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BB2232-8C6F-2624-DB8E-E64EFBF0A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DA2F1-B177-0AE1-3287-E92FC3046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33CB5C-83D3-353E-BDE0-92F65010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35F823-EE82-4A49-B3DE-109879B2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9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CAA4E-602C-95A1-1BEC-57A26925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322BA-A72C-7C3C-AF4A-9203F11D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942B2-96F7-4107-97CB-1B68F67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1528B-F3A2-2226-2D0C-5F2CF7BA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2256A-B7D1-12B8-0A7A-06E684FA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64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E89EB-64B0-D7CE-729C-4E043A9F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C1AAA9-F136-AD2A-C1A7-6BE511E28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64096-DB58-03BB-0873-0DF43025F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328DC-4F93-D0EF-94C8-8192BD79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A3B32-E609-32FA-8828-13B9F2A1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03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25F45-7112-C044-4A4E-FD8EB6D2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093D9-0207-CB9C-A6DC-AF0FE66B3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CC3627-C552-6710-D8A1-C1ECD4189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7F6DDA-79A9-B35B-B0E4-C0FE3423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11912B-E041-C95F-FB80-6BB2A0B3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A71CB6-5686-D2D3-1B95-C74AA4DB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9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1EE01-F119-AAFC-DA44-8E81A699F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F5A75C-674E-4854-AA10-E93D8CF75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C42537-0958-10A7-2746-252198C27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26611-E630-B382-A041-2DC74AAB4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7FF90A-3BCA-D64E-0A2D-B586C3206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7799E5-88AF-0BCD-F6DA-DC310C3F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F8C9A2-5C73-BA10-B99A-AD926EF9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66C0B6-F3F6-4A58-081F-A0562F74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09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2A60F-2100-2CEE-A1EF-49E7B017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593F22-CAFD-84C3-76A2-12DB2F76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29A9BC-1C0D-5CC5-EF7D-7B719BF2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1768CD-0243-B6E4-E3BE-48A663F5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46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4600FA-8DCD-3033-E05C-8C13257C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E6838E-02A4-136C-F2AB-208C5492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D71298-A00A-F28D-6F49-70487BB5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39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1E670-D94F-5019-BA88-208255EE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5CC6-1425-9D9C-E71B-6616187E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58DDE4-687A-A59F-CE02-AD6AE77E6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B4254A-2142-E3F2-A843-534F64E0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2FD5B-CEC5-9817-3F81-B1FEBCD5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7CE0FD-3D83-3CAF-50C1-5D945118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23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93F85-15FF-7DED-C340-ADA717FCC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251ED8-AAE3-B25A-9D3B-387E2F09E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084B27-2A53-7D61-0A63-D6A1291C4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99419E-44F7-0503-C544-62E05205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81B222-9758-5FCB-B24D-71D6EFF8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28E5F0-89A1-DC53-6E01-F1C2EB64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6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C9E82-C2FE-1889-3B4E-B7C118EB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81FC25-FBFD-4E49-0A02-343E064C2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B41757-AFB8-7DF9-5EE1-3A651B7A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3DDF3-2A80-241C-298E-777E0853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4FF3E3-340C-3FF9-D74C-1E5E7E1D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05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EC5A5E-A160-0309-EAC0-11823A3B4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51423B-2301-39BB-F609-FDCAB771D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0C8F6-5881-C8F8-04A2-82ACCA4B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F18357-CF1A-CC52-2CC9-3595EBD6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5A287-E105-2C53-0C63-246847A5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15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F6CA0B-DFCC-E2F8-62D3-BCD13213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BB7A80-9E57-CDF1-E615-E2411579E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8B1EE-C651-82CE-B0E0-FD2449C43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502E3-3DEC-4CC4-A5D1-CA7469F93720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C7168-EE1A-1A5B-6437-928A88F28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8D1911-8D9C-E765-32CC-B72C5C9DB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FDAD1-0ECD-40B8-98DF-9B81AD8805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21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1A6E960-ABF9-F2DE-DD15-315600BC9D49}"/>
              </a:ext>
            </a:extLst>
          </p:cNvPr>
          <p:cNvSpPr/>
          <p:nvPr/>
        </p:nvSpPr>
        <p:spPr>
          <a:xfrm>
            <a:off x="0" y="0"/>
            <a:ext cx="7775468" cy="6858000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DFF667-6F23-875B-BB26-088B276E78BD}"/>
              </a:ext>
            </a:extLst>
          </p:cNvPr>
          <p:cNvSpPr txBox="1"/>
          <p:nvPr/>
        </p:nvSpPr>
        <p:spPr>
          <a:xfrm>
            <a:off x="632101" y="3637234"/>
            <a:ext cx="6621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关于如何提升展示的清晰度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A0D5F4-A8E5-CCDE-88C8-F84091AB2232}"/>
              </a:ext>
            </a:extLst>
          </p:cNvPr>
          <p:cNvSpPr txBox="1"/>
          <p:nvPr/>
        </p:nvSpPr>
        <p:spPr>
          <a:xfrm>
            <a:off x="632102" y="4649223"/>
            <a:ext cx="5787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Get to know more about your project while presenting it</a:t>
            </a:r>
            <a:endParaRPr lang="zh-CN" altLang="en-US" sz="1400" dirty="0">
              <a:solidFill>
                <a:schemeClr val="bg1"/>
              </a:solidFill>
              <a:latin typeface="Noto Serif SC ExtraLight" panose="02020200000000000000" pitchFamily="18" charset="-122"/>
              <a:ea typeface="Noto Serif SC ExtraLight" panose="02020200000000000000" pitchFamily="18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285E9D-ADF3-43DA-7479-B15BD99E8F40}"/>
              </a:ext>
            </a:extLst>
          </p:cNvPr>
          <p:cNvCxnSpPr>
            <a:cxnSpLocks/>
          </p:cNvCxnSpPr>
          <p:nvPr/>
        </p:nvCxnSpPr>
        <p:spPr>
          <a:xfrm>
            <a:off x="742567" y="4479946"/>
            <a:ext cx="637011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FEB0936-5652-F49C-9974-E4BBD146CB18}"/>
              </a:ext>
            </a:extLst>
          </p:cNvPr>
          <p:cNvGrpSpPr/>
          <p:nvPr/>
        </p:nvGrpSpPr>
        <p:grpSpPr>
          <a:xfrm>
            <a:off x="8923071" y="87808"/>
            <a:ext cx="3062320" cy="635604"/>
            <a:chOff x="8923071" y="87808"/>
            <a:chExt cx="3062320" cy="63560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7D71905-13DF-0FEC-6C61-EBEBAE9AD302}"/>
                </a:ext>
              </a:extLst>
            </p:cNvPr>
            <p:cNvSpPr txBox="1"/>
            <p:nvPr/>
          </p:nvSpPr>
          <p:spPr>
            <a:xfrm>
              <a:off x="8923071" y="461802"/>
              <a:ext cx="30623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28B0F41-8735-5CFA-90E4-E2CAEDC1F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EFA0745B-48D0-473B-3656-67BB6FCE914A}"/>
              </a:ext>
            </a:extLst>
          </p:cNvPr>
          <p:cNvSpPr txBox="1"/>
          <p:nvPr/>
        </p:nvSpPr>
        <p:spPr>
          <a:xfrm>
            <a:off x="8843290" y="4479946"/>
            <a:ext cx="306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//                    </a:t>
            </a:r>
            <a:r>
              <a:rPr lang="zh-CN" altLang="en-US" sz="12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汇报人 </a:t>
            </a:r>
            <a:endParaRPr lang="en-US" altLang="zh-CN" sz="1200" b="1" dirty="0">
              <a:solidFill>
                <a:srgbClr val="9B1E23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r"/>
            <a:r>
              <a:rPr lang="zh-CN" altLang="en-US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王子懿 卢峰杰</a:t>
            </a:r>
            <a:endParaRPr lang="en-US" altLang="zh-CN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r"/>
            <a:endParaRPr lang="en-US" altLang="zh-CN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r"/>
            <a:r>
              <a:rPr lang="en-US" altLang="zh-CN" sz="12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                 </a:t>
            </a:r>
            <a:r>
              <a:rPr lang="zh-CN" altLang="en-US" sz="12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共同作者</a:t>
            </a:r>
            <a:endParaRPr lang="en-US" altLang="zh-CN" sz="1200" b="1" dirty="0">
              <a:solidFill>
                <a:srgbClr val="9B1E23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algn="r"/>
            <a:r>
              <a:rPr lang="zh-CN" altLang="en-US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王子懿 卢峰杰</a:t>
            </a:r>
            <a:endParaRPr lang="en-US" altLang="zh-CN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3CFAA7-EB1A-6F17-53AB-5BD82E163985}"/>
              </a:ext>
            </a:extLst>
          </p:cNvPr>
          <p:cNvSpPr txBox="1"/>
          <p:nvPr/>
        </p:nvSpPr>
        <p:spPr>
          <a:xfrm>
            <a:off x="10328730" y="5992467"/>
            <a:ext cx="1576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2026 </a:t>
            </a:r>
            <a:r>
              <a:rPr lang="zh-CN" altLang="en-US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年 </a:t>
            </a:r>
            <a:r>
              <a:rPr lang="en-US" altLang="zh-CN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6 </a:t>
            </a:r>
            <a:r>
              <a:rPr lang="zh-CN" altLang="en-US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月 </a:t>
            </a:r>
            <a:r>
              <a:rPr lang="en-US" altLang="zh-CN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24 </a:t>
            </a:r>
            <a:r>
              <a:rPr lang="zh-CN" altLang="en-US" sz="1200" dirty="0">
                <a:latin typeface="新宋体" panose="02010609030101010101" pitchFamily="49" charset="-122"/>
                <a:ea typeface="新宋体" panose="02010609030101010101" pitchFamily="49" charset="-122"/>
              </a:rPr>
              <a:t>日</a:t>
            </a:r>
            <a:endParaRPr lang="en-US" altLang="zh-CN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B99C81-6841-D34B-FFD5-3175E8CB854E}"/>
              </a:ext>
            </a:extLst>
          </p:cNvPr>
          <p:cNvSpPr txBox="1"/>
          <p:nvPr/>
        </p:nvSpPr>
        <p:spPr>
          <a:xfrm>
            <a:off x="2263134" y="1557446"/>
            <a:ext cx="8803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This is How </a:t>
            </a:r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To Pre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C0372C-7705-25E2-6253-583459C4C85C}"/>
              </a:ext>
            </a:extLst>
          </p:cNvPr>
          <p:cNvSpPr/>
          <p:nvPr/>
        </p:nvSpPr>
        <p:spPr>
          <a:xfrm>
            <a:off x="9769522" y="2585521"/>
            <a:ext cx="1209856" cy="257887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CB3D1C-7053-7AD1-0B00-6F54FEA095E1}"/>
              </a:ext>
            </a:extLst>
          </p:cNvPr>
          <p:cNvSpPr/>
          <p:nvPr/>
        </p:nvSpPr>
        <p:spPr>
          <a:xfrm>
            <a:off x="10328731" y="6033708"/>
            <a:ext cx="45719" cy="194517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44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91437E83-C7D4-0582-2D5E-82A56558A570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01D742C-941F-6CBB-0728-4F960A11A32D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9A91FCE-6170-1D0F-95C9-3363ADC25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481AD6A9-8C79-8758-0957-B996075A1448}"/>
              </a:ext>
            </a:extLst>
          </p:cNvPr>
          <p:cNvSpPr txBox="1"/>
          <p:nvPr/>
        </p:nvSpPr>
        <p:spPr>
          <a:xfrm>
            <a:off x="516561" y="782059"/>
            <a:ext cx="7166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WHO ARE WE?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D79A22-CB89-9E28-6DCE-B1E3C32445AE}"/>
              </a:ext>
            </a:extLst>
          </p:cNvPr>
          <p:cNvSpPr txBox="1"/>
          <p:nvPr/>
        </p:nvSpPr>
        <p:spPr>
          <a:xfrm>
            <a:off x="594986" y="1820960"/>
            <a:ext cx="6543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在开场前要先介绍自己和团队哦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7E84ACB-C080-822A-5565-2EC0E76AA650}"/>
              </a:ext>
            </a:extLst>
          </p:cNvPr>
          <p:cNvSpPr/>
          <p:nvPr/>
        </p:nvSpPr>
        <p:spPr>
          <a:xfrm>
            <a:off x="998178" y="2974932"/>
            <a:ext cx="2417523" cy="2417523"/>
          </a:xfrm>
          <a:prstGeom prst="ellipse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087DF8D-7BCD-1819-0CB8-26724D77BF07}"/>
              </a:ext>
            </a:extLst>
          </p:cNvPr>
          <p:cNvSpPr/>
          <p:nvPr/>
        </p:nvSpPr>
        <p:spPr>
          <a:xfrm>
            <a:off x="6209005" y="2974932"/>
            <a:ext cx="2417523" cy="2417523"/>
          </a:xfrm>
          <a:prstGeom prst="ellipse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09022A-CF65-7025-843B-0F07DEF3E3C8}"/>
              </a:ext>
            </a:extLst>
          </p:cNvPr>
          <p:cNvCxnSpPr>
            <a:cxnSpLocks/>
          </p:cNvCxnSpPr>
          <p:nvPr/>
        </p:nvCxnSpPr>
        <p:spPr>
          <a:xfrm>
            <a:off x="5258200" y="2074949"/>
            <a:ext cx="6370115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E16EA79-82AA-7062-F084-A2D5895EF065}"/>
              </a:ext>
            </a:extLst>
          </p:cNvPr>
          <p:cNvGrpSpPr/>
          <p:nvPr/>
        </p:nvGrpSpPr>
        <p:grpSpPr>
          <a:xfrm>
            <a:off x="3714758" y="3429000"/>
            <a:ext cx="1615065" cy="1302736"/>
            <a:chOff x="3714758" y="3429000"/>
            <a:chExt cx="1615065" cy="1302736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6268684-66AA-4E52-FDB4-1D6C7BF6AAA6}"/>
                </a:ext>
              </a:extLst>
            </p:cNvPr>
            <p:cNvSpPr txBox="1"/>
            <p:nvPr/>
          </p:nvSpPr>
          <p:spPr>
            <a:xfrm>
              <a:off x="3714758" y="3429000"/>
              <a:ext cx="1028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王子懿</a:t>
              </a:r>
              <a:endParaRPr lang="zh-CN" altLang="en-US" sz="2000" dirty="0">
                <a:solidFill>
                  <a:srgbClr val="9B1E23"/>
                </a:solidFill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2AF4669-276A-E480-B3B0-B5A1AADA7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4966" y="3829110"/>
              <a:ext cx="741767" cy="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F7CBDA5-E1AF-641D-4F6D-D616969CA0B2}"/>
                </a:ext>
              </a:extLst>
            </p:cNvPr>
            <p:cNvSpPr txBox="1"/>
            <p:nvPr/>
          </p:nvSpPr>
          <p:spPr>
            <a:xfrm>
              <a:off x="3714758" y="4029556"/>
              <a:ext cx="1615065" cy="7021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负责内容：</a:t>
              </a:r>
              <a:endParaRPr lang="en-US" altLang="zh-CN" sz="1400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设计这个模板</a:t>
              </a:r>
              <a:endParaRPr lang="zh-CN" altLang="en-US" sz="1400" dirty="0">
                <a:solidFill>
                  <a:srgbClr val="9B1E23"/>
                </a:solidFill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D3905740-A61F-E9F7-5AA6-297CFF003C9C}"/>
              </a:ext>
            </a:extLst>
          </p:cNvPr>
          <p:cNvSpPr/>
          <p:nvPr/>
        </p:nvSpPr>
        <p:spPr>
          <a:xfrm>
            <a:off x="5175237" y="2008541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0845DFA-4D0A-668D-1952-A212A441AD87}"/>
              </a:ext>
            </a:extLst>
          </p:cNvPr>
          <p:cNvGrpSpPr/>
          <p:nvPr/>
        </p:nvGrpSpPr>
        <p:grpSpPr>
          <a:xfrm>
            <a:off x="9086420" y="3429000"/>
            <a:ext cx="1929923" cy="1302736"/>
            <a:chOff x="3714758" y="3429000"/>
            <a:chExt cx="1929923" cy="1302736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8D38A40-35F4-D2E5-374A-63D26F766560}"/>
                </a:ext>
              </a:extLst>
            </p:cNvPr>
            <p:cNvSpPr txBox="1"/>
            <p:nvPr/>
          </p:nvSpPr>
          <p:spPr>
            <a:xfrm>
              <a:off x="3714758" y="3429000"/>
              <a:ext cx="10287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卢峰杰</a:t>
              </a:r>
              <a:endParaRPr lang="zh-CN" altLang="en-US" sz="2000" dirty="0">
                <a:solidFill>
                  <a:srgbClr val="9B1E23"/>
                </a:solidFill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D7B0FFD-54B4-45CB-D993-042485DCB4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4966" y="3829110"/>
              <a:ext cx="741767" cy="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7FF8CBC-69B0-CC7C-535B-BBA86BE385D9}"/>
                </a:ext>
              </a:extLst>
            </p:cNvPr>
            <p:cNvSpPr txBox="1"/>
            <p:nvPr/>
          </p:nvSpPr>
          <p:spPr>
            <a:xfrm>
              <a:off x="3714758" y="4029556"/>
              <a:ext cx="1929923" cy="7021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负责内容：</a:t>
              </a:r>
              <a:endParaRPr lang="en-US" altLang="zh-CN" sz="1400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Skill</a:t>
              </a:r>
              <a:r>
                <a:rPr lang="zh-CN" altLang="en-US" sz="1400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化这个模板</a:t>
              </a:r>
              <a:endParaRPr lang="zh-CN" altLang="en-US" sz="1400" dirty="0">
                <a:solidFill>
                  <a:srgbClr val="9B1E2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76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4EF7-6672-5642-E712-32A58207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6A0288E-7601-6F3F-523F-64149289A1BF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D1A1FE4-C6EA-5BA3-23B0-CC5E02354BC4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C650F69-214E-523F-D692-DD9E63217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01C78DD-DEEF-A11B-A906-598A83CC0B39}"/>
              </a:ext>
            </a:extLst>
          </p:cNvPr>
          <p:cNvSpPr txBox="1"/>
          <p:nvPr/>
        </p:nvSpPr>
        <p:spPr>
          <a:xfrm>
            <a:off x="227906" y="1702051"/>
            <a:ext cx="39808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WHAT ARE WE DOING?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00F2CF9-6B54-C298-35A8-8CC1DAE65DA4}"/>
              </a:ext>
            </a:extLst>
          </p:cNvPr>
          <p:cNvCxnSpPr>
            <a:cxnSpLocks/>
          </p:cNvCxnSpPr>
          <p:nvPr/>
        </p:nvCxnSpPr>
        <p:spPr>
          <a:xfrm>
            <a:off x="4281170" y="5055189"/>
            <a:ext cx="7543400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79531BA-78B5-98E6-5241-0CC33EC5474A}"/>
              </a:ext>
            </a:extLst>
          </p:cNvPr>
          <p:cNvSpPr txBox="1"/>
          <p:nvPr/>
        </p:nvSpPr>
        <p:spPr>
          <a:xfrm>
            <a:off x="227906" y="5118371"/>
            <a:ext cx="388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一句话总结自己的项目背景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28FB72-1494-2A26-12EE-E9C336357F89}"/>
              </a:ext>
            </a:extLst>
          </p:cNvPr>
          <p:cNvSpPr txBox="1"/>
          <p:nvPr/>
        </p:nvSpPr>
        <p:spPr>
          <a:xfrm>
            <a:off x="5491026" y="2716369"/>
            <a:ext cx="5814809" cy="1425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“我们发现小组内大家汇报展示的时候没有统一的模板</a:t>
            </a:r>
            <a:r>
              <a:rPr lang="en-US" altLang="zh-CN" sz="2000" b="1" baseline="30000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[1]</a:t>
            </a:r>
            <a:r>
              <a:rPr lang="zh-CN" altLang="en-US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，需要耗费精力在构建项目进度汇报以及总结自己项目中，因此诞生了这个</a:t>
            </a:r>
            <a:r>
              <a:rPr lang="en-US" altLang="zh-CN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skill</a:t>
            </a:r>
            <a:r>
              <a:rPr lang="zh-CN" altLang="en-US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。”</a:t>
            </a:r>
            <a:endParaRPr lang="zh-CN" altLang="en-US" sz="2000" b="1" dirty="0">
              <a:solidFill>
                <a:srgbClr val="9B1E23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B0E8D7-9E37-6A71-D409-B8B29FAE0DAB}"/>
              </a:ext>
            </a:extLst>
          </p:cNvPr>
          <p:cNvSpPr/>
          <p:nvPr/>
        </p:nvSpPr>
        <p:spPr>
          <a:xfrm>
            <a:off x="4281170" y="4992007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AD3367-3EFE-0185-6F31-64684B3869E4}"/>
              </a:ext>
            </a:extLst>
          </p:cNvPr>
          <p:cNvSpPr txBox="1"/>
          <p:nvPr/>
        </p:nvSpPr>
        <p:spPr>
          <a:xfrm>
            <a:off x="227906" y="6382104"/>
            <a:ext cx="3980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720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defRPr>
            </a:lvl1pPr>
          </a:lstStyle>
          <a:p>
            <a:r>
              <a:rPr lang="en-US" altLang="zh-CN" sz="1100" dirty="0"/>
              <a:t>[1] </a:t>
            </a:r>
            <a:r>
              <a:rPr lang="zh-CN" altLang="en-US" sz="1100" dirty="0"/>
              <a:t>某些小组组会上的观察</a:t>
            </a:r>
          </a:p>
        </p:txBody>
      </p:sp>
    </p:spTree>
    <p:extLst>
      <p:ext uri="{BB962C8B-B14F-4D97-AF65-F5344CB8AC3E}">
        <p14:creationId xmlns:p14="http://schemas.microsoft.com/office/powerpoint/2010/main" val="25537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571D-2E97-00BA-E5A0-DE269EA7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D824D40-10AD-2C3D-DF7A-845D977E7B44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182E316-D4FB-96BD-48B7-7357B3482583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5969101-F1D2-5E3F-6883-B47AC27CE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35437A0-CB74-FE31-9ECC-00C860889FDF}"/>
              </a:ext>
            </a:extLst>
          </p:cNvPr>
          <p:cNvSpPr txBox="1"/>
          <p:nvPr/>
        </p:nvSpPr>
        <p:spPr>
          <a:xfrm>
            <a:off x="227906" y="1702051"/>
            <a:ext cx="39808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WHAT ARE WE DOING?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52D6DF-FE4D-009C-267E-81214321A84C}"/>
              </a:ext>
            </a:extLst>
          </p:cNvPr>
          <p:cNvSpPr txBox="1"/>
          <p:nvPr/>
        </p:nvSpPr>
        <p:spPr>
          <a:xfrm>
            <a:off x="227906" y="5118371"/>
            <a:ext cx="388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一张图展示自己的项目背景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969DC3-2AA5-AEA9-D4AE-9CEEA582BE7E}"/>
              </a:ext>
            </a:extLst>
          </p:cNvPr>
          <p:cNvSpPr/>
          <p:nvPr/>
        </p:nvSpPr>
        <p:spPr>
          <a:xfrm>
            <a:off x="4784942" y="789139"/>
            <a:ext cx="6970735" cy="4208746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29E2F6-8273-6677-7FD5-DD251C1B9B23}"/>
              </a:ext>
            </a:extLst>
          </p:cNvPr>
          <p:cNvSpPr txBox="1"/>
          <p:nvPr/>
        </p:nvSpPr>
        <p:spPr>
          <a:xfrm>
            <a:off x="9363206" y="5238858"/>
            <a:ext cx="2392471" cy="41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小组</a:t>
            </a:r>
            <a:r>
              <a:rPr lang="en-US" altLang="zh-CN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PPT</a:t>
            </a: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模板展示参考</a:t>
            </a:r>
            <a:r>
              <a:rPr lang="en-US" altLang="zh-CN" sz="1600" b="1" baseline="30000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[1]</a:t>
            </a:r>
            <a:endParaRPr lang="zh-CN" altLang="en-US" sz="1600" b="1" baseline="30000" dirty="0">
              <a:solidFill>
                <a:srgbClr val="9B1E23"/>
              </a:solidFill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48C7C14-8D53-02E5-6FF8-B07BAE763768}"/>
              </a:ext>
            </a:extLst>
          </p:cNvPr>
          <p:cNvCxnSpPr>
            <a:cxnSpLocks/>
          </p:cNvCxnSpPr>
          <p:nvPr/>
        </p:nvCxnSpPr>
        <p:spPr>
          <a:xfrm>
            <a:off x="4281170" y="5118371"/>
            <a:ext cx="7543400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6F2119FA-2AD3-4BFA-0590-A7EB5B693B24}"/>
              </a:ext>
            </a:extLst>
          </p:cNvPr>
          <p:cNvSpPr/>
          <p:nvPr/>
        </p:nvSpPr>
        <p:spPr>
          <a:xfrm>
            <a:off x="4281170" y="5055189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EDA937-6405-4B4A-9790-5B6547CF5B88}"/>
              </a:ext>
            </a:extLst>
          </p:cNvPr>
          <p:cNvSpPr txBox="1"/>
          <p:nvPr/>
        </p:nvSpPr>
        <p:spPr>
          <a:xfrm>
            <a:off x="227906" y="6382104"/>
            <a:ext cx="3980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720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defRPr>
            </a:lvl1pPr>
          </a:lstStyle>
          <a:p>
            <a:r>
              <a:rPr lang="en-US" altLang="zh-CN" sz="1100" dirty="0"/>
              <a:t>[1] </a:t>
            </a:r>
            <a:r>
              <a:rPr lang="zh-CN" altLang="en-US" sz="1100" dirty="0"/>
              <a:t>https://nl.pinterest.com/pin/991284567987710903/</a:t>
            </a:r>
          </a:p>
        </p:txBody>
      </p:sp>
    </p:spTree>
    <p:extLst>
      <p:ext uri="{BB962C8B-B14F-4D97-AF65-F5344CB8AC3E}">
        <p14:creationId xmlns:p14="http://schemas.microsoft.com/office/powerpoint/2010/main" val="29205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92E19-9B07-7C7C-61A2-405C6F21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411CD37-4B97-4246-E877-2967D27CF909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4DEC4A1-9D7A-B6E5-BF1D-9D00AC1708F2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76CB37E-5D62-787F-27B0-286819B76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1BCB21B-D7C2-10FB-7E90-670D917A91BD}"/>
              </a:ext>
            </a:extLst>
          </p:cNvPr>
          <p:cNvSpPr txBox="1"/>
          <p:nvPr/>
        </p:nvSpPr>
        <p:spPr>
          <a:xfrm>
            <a:off x="8889656" y="1335449"/>
            <a:ext cx="31958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WHAT HAVE WE DONE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4D83273-D636-4A77-56EC-127B40671A1D}"/>
              </a:ext>
            </a:extLst>
          </p:cNvPr>
          <p:cNvCxnSpPr>
            <a:cxnSpLocks/>
          </p:cNvCxnSpPr>
          <p:nvPr/>
        </p:nvCxnSpPr>
        <p:spPr>
          <a:xfrm>
            <a:off x="319119" y="1496102"/>
            <a:ext cx="8570537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7DA7005-3C32-D351-C6E1-6EDA457A3977}"/>
              </a:ext>
            </a:extLst>
          </p:cNvPr>
          <p:cNvSpPr txBox="1"/>
          <p:nvPr/>
        </p:nvSpPr>
        <p:spPr>
          <a:xfrm>
            <a:off x="8135215" y="5859764"/>
            <a:ext cx="388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展示自己的项目进度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89C691-1BA8-416F-E299-0E53D5F582C1}"/>
              </a:ext>
            </a:extLst>
          </p:cNvPr>
          <p:cNvSpPr txBox="1"/>
          <p:nvPr/>
        </p:nvSpPr>
        <p:spPr>
          <a:xfrm>
            <a:off x="319120" y="536571"/>
            <a:ext cx="8150912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“本周我们主要针对小组汇报</a:t>
            </a:r>
            <a:r>
              <a:rPr lang="en-US" altLang="zh-CN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PPT</a:t>
            </a: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流程以及模板进行了规范化设计，以及</a:t>
            </a:r>
            <a:r>
              <a:rPr lang="en-US" altLang="zh-CN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skill</a:t>
            </a: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化包装，帮助大家在未来更好更清晰地展示自己的项目进度”</a:t>
            </a:r>
            <a:endParaRPr lang="zh-CN" altLang="en-US" sz="1600" b="1" dirty="0">
              <a:solidFill>
                <a:srgbClr val="9B1E23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260E19-8C85-6032-CCDA-8ED33BB0BB6F}"/>
              </a:ext>
            </a:extLst>
          </p:cNvPr>
          <p:cNvSpPr/>
          <p:nvPr/>
        </p:nvSpPr>
        <p:spPr>
          <a:xfrm>
            <a:off x="319119" y="1432920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6812BF-5F34-13DC-244A-854F275F830A}"/>
              </a:ext>
            </a:extLst>
          </p:cNvPr>
          <p:cNvSpPr/>
          <p:nvPr/>
        </p:nvSpPr>
        <p:spPr>
          <a:xfrm>
            <a:off x="595491" y="2290597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8A9F09-08E1-3FB7-E96C-BB2CD0763B1C}"/>
              </a:ext>
            </a:extLst>
          </p:cNvPr>
          <p:cNvSpPr/>
          <p:nvPr/>
        </p:nvSpPr>
        <p:spPr>
          <a:xfrm>
            <a:off x="2291812" y="2290597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1D32E8-F19D-E5FC-74E2-50A77C0E7C14}"/>
              </a:ext>
            </a:extLst>
          </p:cNvPr>
          <p:cNvSpPr/>
          <p:nvPr/>
        </p:nvSpPr>
        <p:spPr>
          <a:xfrm>
            <a:off x="3988133" y="2290597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575AC9-0E9C-49BE-F42E-3EF66CE639A6}"/>
              </a:ext>
            </a:extLst>
          </p:cNvPr>
          <p:cNvSpPr/>
          <p:nvPr/>
        </p:nvSpPr>
        <p:spPr>
          <a:xfrm>
            <a:off x="5684454" y="2290597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C7CA71-3ED4-533D-2F01-61B77146EAEF}"/>
              </a:ext>
            </a:extLst>
          </p:cNvPr>
          <p:cNvSpPr/>
          <p:nvPr/>
        </p:nvSpPr>
        <p:spPr>
          <a:xfrm>
            <a:off x="7380775" y="2290597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1F633B-18DE-2C2F-47DC-3A2220943023}"/>
              </a:ext>
            </a:extLst>
          </p:cNvPr>
          <p:cNvSpPr/>
          <p:nvPr/>
        </p:nvSpPr>
        <p:spPr>
          <a:xfrm>
            <a:off x="595491" y="4563774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C9FDAE-DC43-5BA2-9834-0D673DD709F2}"/>
              </a:ext>
            </a:extLst>
          </p:cNvPr>
          <p:cNvSpPr/>
          <p:nvPr/>
        </p:nvSpPr>
        <p:spPr>
          <a:xfrm>
            <a:off x="2291812" y="4563774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F60958-FC98-A7AB-5353-A64C30D5FAD0}"/>
              </a:ext>
            </a:extLst>
          </p:cNvPr>
          <p:cNvSpPr/>
          <p:nvPr/>
        </p:nvSpPr>
        <p:spPr>
          <a:xfrm>
            <a:off x="3988133" y="4563774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E439A8-557E-4968-FD66-286C7A9315C0}"/>
              </a:ext>
            </a:extLst>
          </p:cNvPr>
          <p:cNvSpPr/>
          <p:nvPr/>
        </p:nvSpPr>
        <p:spPr>
          <a:xfrm>
            <a:off x="5684454" y="4563774"/>
            <a:ext cx="1508881" cy="1490597"/>
          </a:xfrm>
          <a:prstGeom prst="rect">
            <a:avLst/>
          </a:prstGeom>
          <a:solidFill>
            <a:srgbClr val="9B1E2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D0B81D-88F4-4746-0A47-9D55E5AF2CC0}"/>
              </a:ext>
            </a:extLst>
          </p:cNvPr>
          <p:cNvSpPr/>
          <p:nvPr/>
        </p:nvSpPr>
        <p:spPr>
          <a:xfrm>
            <a:off x="7380775" y="4563774"/>
            <a:ext cx="1508881" cy="1490597"/>
          </a:xfrm>
          <a:prstGeom prst="rect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C8D753D-4297-31EF-5C32-9E7918F993B2}"/>
              </a:ext>
            </a:extLst>
          </p:cNvPr>
          <p:cNvGrpSpPr/>
          <p:nvPr/>
        </p:nvGrpSpPr>
        <p:grpSpPr>
          <a:xfrm>
            <a:off x="563376" y="1745725"/>
            <a:ext cx="639122" cy="437840"/>
            <a:chOff x="319119" y="1745725"/>
            <a:chExt cx="639122" cy="43784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E11A995-3B14-DA55-138C-01DDFE8C992D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902493A-AC0A-8149-9D32-15533B864DCA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Mon.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F85DFC0-8EC8-AFA4-F555-B8096D17827F}"/>
              </a:ext>
            </a:extLst>
          </p:cNvPr>
          <p:cNvGrpSpPr/>
          <p:nvPr/>
        </p:nvGrpSpPr>
        <p:grpSpPr>
          <a:xfrm>
            <a:off x="2291812" y="1745725"/>
            <a:ext cx="639122" cy="437840"/>
            <a:chOff x="319119" y="1745725"/>
            <a:chExt cx="639122" cy="43784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9A61869-4166-0FD7-7345-90E9792F6EB8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291C7E8-05EB-4D5B-C154-0FC753B2353D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Tue.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C4575C8-F008-0395-B782-C59A38111DCC}"/>
              </a:ext>
            </a:extLst>
          </p:cNvPr>
          <p:cNvGrpSpPr/>
          <p:nvPr/>
        </p:nvGrpSpPr>
        <p:grpSpPr>
          <a:xfrm>
            <a:off x="3983653" y="1745725"/>
            <a:ext cx="639122" cy="437840"/>
            <a:chOff x="319119" y="1745725"/>
            <a:chExt cx="639122" cy="43784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00FE575-8E56-C65F-7C50-4047EEC5E1A0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38D87F9-613F-0C04-8AF6-A76D729E2FF6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Wed.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8D123FC-F6A1-6A1E-9588-A54BFFCB5E3C}"/>
              </a:ext>
            </a:extLst>
          </p:cNvPr>
          <p:cNvGrpSpPr/>
          <p:nvPr/>
        </p:nvGrpSpPr>
        <p:grpSpPr>
          <a:xfrm>
            <a:off x="5684454" y="1745725"/>
            <a:ext cx="639122" cy="437840"/>
            <a:chOff x="319119" y="1745725"/>
            <a:chExt cx="639122" cy="43784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A7E4528-AAF7-1618-5273-66C849068E66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B4B9C91-AFB8-601E-83D7-EC9EE030C1EE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Thur.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E1F99F8-35C4-A09C-79EA-48098EE3B46D}"/>
              </a:ext>
            </a:extLst>
          </p:cNvPr>
          <p:cNvGrpSpPr/>
          <p:nvPr/>
        </p:nvGrpSpPr>
        <p:grpSpPr>
          <a:xfrm>
            <a:off x="7380775" y="1745725"/>
            <a:ext cx="639122" cy="437840"/>
            <a:chOff x="319119" y="1745725"/>
            <a:chExt cx="639122" cy="43784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29459AB-76D8-3A4C-334D-D315F627D0CB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70DB75F-8216-E72F-CEC5-B7E1365644A8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Fri.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CC15915-2AF1-B403-DDD1-81798BF7C26C}"/>
              </a:ext>
            </a:extLst>
          </p:cNvPr>
          <p:cNvGrpSpPr/>
          <p:nvPr/>
        </p:nvGrpSpPr>
        <p:grpSpPr>
          <a:xfrm>
            <a:off x="563376" y="4074667"/>
            <a:ext cx="639122" cy="437840"/>
            <a:chOff x="319119" y="1745725"/>
            <a:chExt cx="639122" cy="43784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8D30E4A-5644-24EB-6244-6B828192756A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7C6A36B-3837-A6C6-1BCE-613FDA70F214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Mon.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4105389-39C4-FE1D-3C05-692FABB3D78B}"/>
              </a:ext>
            </a:extLst>
          </p:cNvPr>
          <p:cNvGrpSpPr/>
          <p:nvPr/>
        </p:nvGrpSpPr>
        <p:grpSpPr>
          <a:xfrm>
            <a:off x="2291812" y="4074667"/>
            <a:ext cx="639122" cy="437840"/>
            <a:chOff x="319119" y="1745725"/>
            <a:chExt cx="639122" cy="43784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0BC4253-6BCA-C13A-96AC-3B5E18CFFFE7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953D716-56BA-8C85-E390-103AD5C673D8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Tue.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7CB3F43-CAE1-385B-BDD6-A4B97F9B15B1}"/>
              </a:ext>
            </a:extLst>
          </p:cNvPr>
          <p:cNvGrpSpPr/>
          <p:nvPr/>
        </p:nvGrpSpPr>
        <p:grpSpPr>
          <a:xfrm>
            <a:off x="3983653" y="4074667"/>
            <a:ext cx="639122" cy="437840"/>
            <a:chOff x="319119" y="1745725"/>
            <a:chExt cx="639122" cy="43784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72B9BEA-0295-0194-BBEB-05CFC6349C7E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44C695A-C4C1-8796-3361-5C1C5DB62E1F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Wed.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0D8CCF3-3B97-D9B9-A9E3-99651511F80A}"/>
              </a:ext>
            </a:extLst>
          </p:cNvPr>
          <p:cNvGrpSpPr/>
          <p:nvPr/>
        </p:nvGrpSpPr>
        <p:grpSpPr>
          <a:xfrm>
            <a:off x="5684454" y="4074667"/>
            <a:ext cx="639122" cy="437840"/>
            <a:chOff x="319119" y="1745725"/>
            <a:chExt cx="639122" cy="43784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3BB2068-48B1-D292-9725-287DA6A85EE2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09AFCAB-CB39-06AB-232B-39CF76B813C0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Thur.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18E2185-E202-7158-3BB2-0A670F8AE17C}"/>
              </a:ext>
            </a:extLst>
          </p:cNvPr>
          <p:cNvGrpSpPr/>
          <p:nvPr/>
        </p:nvGrpSpPr>
        <p:grpSpPr>
          <a:xfrm>
            <a:off x="7380775" y="4074667"/>
            <a:ext cx="639122" cy="437840"/>
            <a:chOff x="319119" y="1745725"/>
            <a:chExt cx="639122" cy="437840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D75461E-1176-CE8C-BC8C-00CD184F53FD}"/>
                </a:ext>
              </a:extLst>
            </p:cNvPr>
            <p:cNvSpPr/>
            <p:nvPr/>
          </p:nvSpPr>
          <p:spPr>
            <a:xfrm>
              <a:off x="351234" y="2137846"/>
              <a:ext cx="607007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89ED9FF-BD52-10FB-F8FD-6313EB868BE7}"/>
                </a:ext>
              </a:extLst>
            </p:cNvPr>
            <p:cNvSpPr txBox="1"/>
            <p:nvPr/>
          </p:nvSpPr>
          <p:spPr>
            <a:xfrm>
              <a:off x="319119" y="1745725"/>
              <a:ext cx="607007" cy="4199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Fri.</a:t>
              </a:r>
              <a:endParaRPr lang="zh-CN" altLang="en-US" sz="1600" b="1" dirty="0">
                <a:solidFill>
                  <a:srgbClr val="9B1E23"/>
                </a:solidFill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32A2600D-3221-E422-BFAD-563E9F8A38C2}"/>
              </a:ext>
            </a:extLst>
          </p:cNvPr>
          <p:cNvSpPr txBox="1"/>
          <p:nvPr/>
        </p:nvSpPr>
        <p:spPr>
          <a:xfrm>
            <a:off x="66147" y="2253212"/>
            <a:ext cx="435624" cy="1527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本周进展</a:t>
            </a:r>
            <a:endParaRPr lang="zh-CN" altLang="en-US" sz="1600" b="1" dirty="0">
              <a:solidFill>
                <a:srgbClr val="9B1E23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4AEE9BD-9779-A399-1855-C742DCA64229}"/>
              </a:ext>
            </a:extLst>
          </p:cNvPr>
          <p:cNvSpPr txBox="1"/>
          <p:nvPr/>
        </p:nvSpPr>
        <p:spPr>
          <a:xfrm>
            <a:off x="66147" y="4512507"/>
            <a:ext cx="435624" cy="1527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下周规划</a:t>
            </a:r>
            <a:endParaRPr lang="zh-CN" altLang="en-US" sz="1600" b="1" dirty="0">
              <a:solidFill>
                <a:srgbClr val="9B1E23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89FCACE-0F81-21C3-CA4B-D67D79266817}"/>
              </a:ext>
            </a:extLst>
          </p:cNvPr>
          <p:cNvSpPr txBox="1"/>
          <p:nvPr/>
        </p:nvSpPr>
        <p:spPr>
          <a:xfrm>
            <a:off x="666607" y="2886398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完成概念设计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E516AD7-7886-F75E-085A-FA9DE715CEC7}"/>
              </a:ext>
            </a:extLst>
          </p:cNvPr>
          <p:cNvSpPr txBox="1"/>
          <p:nvPr/>
        </p:nvSpPr>
        <p:spPr>
          <a:xfrm>
            <a:off x="2343632" y="2800341"/>
            <a:ext cx="1207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搜索文献</a:t>
            </a:r>
            <a:endParaRPr lang="en-US" altLang="zh-CN" sz="1100" dirty="0">
              <a:solidFill>
                <a:srgbClr val="9B1E2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调研</a:t>
            </a:r>
            <a:r>
              <a:rPr lang="en-US" altLang="zh-CN" sz="1100" dirty="0">
                <a:solidFill>
                  <a:srgbClr val="9B1E23"/>
                </a:solidFill>
              </a:rPr>
              <a:t>prompt</a:t>
            </a:r>
            <a:endParaRPr lang="zh-CN" altLang="en-US" sz="1100" dirty="0">
              <a:solidFill>
                <a:srgbClr val="9B1E23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B41645F-F9F5-35C4-514D-58B3077778A4}"/>
              </a:ext>
            </a:extLst>
          </p:cNvPr>
          <p:cNvSpPr txBox="1"/>
          <p:nvPr/>
        </p:nvSpPr>
        <p:spPr>
          <a:xfrm>
            <a:off x="4039953" y="2800341"/>
            <a:ext cx="1207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搜索文献</a:t>
            </a:r>
            <a:endParaRPr lang="en-US" altLang="zh-CN" sz="1100" dirty="0">
              <a:solidFill>
                <a:srgbClr val="9B1E2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调研</a:t>
            </a:r>
            <a:r>
              <a:rPr lang="en-US" altLang="zh-CN" sz="1100" dirty="0">
                <a:solidFill>
                  <a:srgbClr val="9B1E23"/>
                </a:solidFill>
              </a:rPr>
              <a:t>prompt</a:t>
            </a:r>
            <a:endParaRPr lang="zh-CN" altLang="en-US" sz="1100" dirty="0">
              <a:solidFill>
                <a:srgbClr val="9B1E23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7AFC865-6867-DDD7-3ABD-76E296FF8F01}"/>
              </a:ext>
            </a:extLst>
          </p:cNvPr>
          <p:cNvSpPr txBox="1"/>
          <p:nvPr/>
        </p:nvSpPr>
        <p:spPr>
          <a:xfrm>
            <a:off x="5795197" y="2800341"/>
            <a:ext cx="986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制作</a:t>
            </a:r>
            <a:r>
              <a:rPr lang="en-US" altLang="zh-CN" sz="1100" dirty="0">
                <a:solidFill>
                  <a:srgbClr val="9B1E23"/>
                </a:solidFill>
              </a:rPr>
              <a:t>PPT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包装</a:t>
            </a:r>
            <a:r>
              <a:rPr lang="en-US" altLang="zh-CN" sz="1100" dirty="0">
                <a:solidFill>
                  <a:srgbClr val="9B1E23"/>
                </a:solidFill>
              </a:rPr>
              <a:t>Skill</a:t>
            </a:r>
            <a:endParaRPr lang="zh-CN" altLang="en-US" sz="1100" dirty="0">
              <a:solidFill>
                <a:srgbClr val="9B1E23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E615995-0C59-2C21-4001-F168524B3700}"/>
              </a:ext>
            </a:extLst>
          </p:cNvPr>
          <p:cNvSpPr txBox="1"/>
          <p:nvPr/>
        </p:nvSpPr>
        <p:spPr>
          <a:xfrm>
            <a:off x="7526268" y="2800341"/>
            <a:ext cx="10374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最终检查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11E4548-8F54-C341-257F-0C9A7B00C14F}"/>
              </a:ext>
            </a:extLst>
          </p:cNvPr>
          <p:cNvSpPr txBox="1"/>
          <p:nvPr/>
        </p:nvSpPr>
        <p:spPr>
          <a:xfrm>
            <a:off x="666607" y="5147847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完成概念设计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B11D0D8-A0F5-F467-7294-C14417899903}"/>
              </a:ext>
            </a:extLst>
          </p:cNvPr>
          <p:cNvSpPr txBox="1"/>
          <p:nvPr/>
        </p:nvSpPr>
        <p:spPr>
          <a:xfrm>
            <a:off x="2343632" y="5061790"/>
            <a:ext cx="1207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搜索文献</a:t>
            </a:r>
            <a:endParaRPr lang="en-US" altLang="zh-CN" sz="1100" dirty="0">
              <a:solidFill>
                <a:srgbClr val="9B1E2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调研</a:t>
            </a:r>
            <a:r>
              <a:rPr lang="en-US" altLang="zh-CN" sz="1100" dirty="0">
                <a:solidFill>
                  <a:srgbClr val="9B1E23"/>
                </a:solidFill>
              </a:rPr>
              <a:t>prompt</a:t>
            </a:r>
            <a:endParaRPr lang="zh-CN" altLang="en-US" sz="1100" dirty="0">
              <a:solidFill>
                <a:srgbClr val="9B1E23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2E77D5-D0EF-E17A-1D3A-1DBDF880A632}"/>
              </a:ext>
            </a:extLst>
          </p:cNvPr>
          <p:cNvSpPr txBox="1"/>
          <p:nvPr/>
        </p:nvSpPr>
        <p:spPr>
          <a:xfrm>
            <a:off x="4039953" y="5061790"/>
            <a:ext cx="1207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搜索文献</a:t>
            </a:r>
            <a:endParaRPr lang="en-US" altLang="zh-CN" sz="1100" dirty="0">
              <a:solidFill>
                <a:srgbClr val="9B1E2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9B1E23"/>
                </a:solidFill>
              </a:rPr>
              <a:t>调研</a:t>
            </a:r>
            <a:r>
              <a:rPr lang="en-US" altLang="zh-CN" sz="1100" dirty="0">
                <a:solidFill>
                  <a:srgbClr val="9B1E23"/>
                </a:solidFill>
              </a:rPr>
              <a:t>prompt</a:t>
            </a:r>
            <a:endParaRPr lang="zh-CN" altLang="en-US" sz="1100" dirty="0">
              <a:solidFill>
                <a:srgbClr val="9B1E23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01475B7-0479-2810-CE0C-66B6E4C20A40}"/>
              </a:ext>
            </a:extLst>
          </p:cNvPr>
          <p:cNvSpPr txBox="1"/>
          <p:nvPr/>
        </p:nvSpPr>
        <p:spPr>
          <a:xfrm>
            <a:off x="5795197" y="5061790"/>
            <a:ext cx="14398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100" b="1" dirty="0">
                <a:solidFill>
                  <a:schemeClr val="bg1"/>
                </a:solidFill>
              </a:rPr>
              <a:t>DDL【</a:t>
            </a:r>
            <a:r>
              <a:rPr lang="zh-CN" altLang="en-US" sz="1100" b="1" dirty="0">
                <a:solidFill>
                  <a:schemeClr val="bg1"/>
                </a:solidFill>
              </a:rPr>
              <a:t>要交付</a:t>
            </a:r>
            <a:r>
              <a:rPr lang="en-US" altLang="zh-CN" sz="1100" b="1" dirty="0">
                <a:solidFill>
                  <a:schemeClr val="bg1"/>
                </a:solidFill>
              </a:rPr>
              <a:t>】</a:t>
            </a:r>
            <a:endParaRPr lang="zh-CN" alt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54B4C-5850-8130-3723-6212D41E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B48899C-1C74-41A8-BBED-86D529698149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76F5EF3-AA36-84E4-4042-FF7B38DAB7DF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8ED0096-2A80-AD0D-AC2A-D909E79C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5FCA708-83D4-323B-0BB6-F877B6912981}"/>
              </a:ext>
            </a:extLst>
          </p:cNvPr>
          <p:cNvSpPr txBox="1"/>
          <p:nvPr/>
        </p:nvSpPr>
        <p:spPr>
          <a:xfrm>
            <a:off x="227906" y="126598"/>
            <a:ext cx="3282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KEY PROGRESS</a:t>
            </a:r>
            <a:endParaRPr lang="zh-CN" altLang="en-US" sz="28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848028F-1DAE-1B5F-7CA0-A5540F564D08}"/>
              </a:ext>
            </a:extLst>
          </p:cNvPr>
          <p:cNvCxnSpPr>
            <a:cxnSpLocks/>
          </p:cNvCxnSpPr>
          <p:nvPr/>
        </p:nvCxnSpPr>
        <p:spPr>
          <a:xfrm>
            <a:off x="7971849" y="1130310"/>
            <a:ext cx="0" cy="485318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C9103444-4C12-382A-EF0F-05065D7343D4}"/>
              </a:ext>
            </a:extLst>
          </p:cNvPr>
          <p:cNvSpPr/>
          <p:nvPr/>
        </p:nvSpPr>
        <p:spPr>
          <a:xfrm>
            <a:off x="319119" y="649818"/>
            <a:ext cx="1202835" cy="45719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F70038-6C09-2208-F229-C35190EF10C5}"/>
              </a:ext>
            </a:extLst>
          </p:cNvPr>
          <p:cNvSpPr txBox="1"/>
          <p:nvPr/>
        </p:nvSpPr>
        <p:spPr>
          <a:xfrm>
            <a:off x="206760" y="710926"/>
            <a:ext cx="2984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项目开发类进展汇报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6C541A-6B17-5C75-904F-45D12DF2DBDA}"/>
              </a:ext>
            </a:extLst>
          </p:cNvPr>
          <p:cNvSpPr/>
          <p:nvPr/>
        </p:nvSpPr>
        <p:spPr>
          <a:xfrm>
            <a:off x="319119" y="1324627"/>
            <a:ext cx="7462134" cy="4505440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E9F21E-33A2-D168-5856-A6B721A1130E}"/>
              </a:ext>
            </a:extLst>
          </p:cNvPr>
          <p:cNvSpPr txBox="1"/>
          <p:nvPr/>
        </p:nvSpPr>
        <p:spPr>
          <a:xfrm>
            <a:off x="274438" y="5830067"/>
            <a:ext cx="2392471" cy="40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演示参考（可附链接）</a:t>
            </a:r>
            <a:endParaRPr lang="zh-CN" altLang="en-US" sz="1600" b="1" baseline="30000" dirty="0">
              <a:solidFill>
                <a:srgbClr val="9B1E23"/>
              </a:solidFill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04A49DC-A0C5-D459-27AD-6EF5808E277E}"/>
              </a:ext>
            </a:extLst>
          </p:cNvPr>
          <p:cNvGrpSpPr/>
          <p:nvPr/>
        </p:nvGrpSpPr>
        <p:grpSpPr>
          <a:xfrm>
            <a:off x="8162447" y="800769"/>
            <a:ext cx="3626562" cy="1722090"/>
            <a:chOff x="8162447" y="1049480"/>
            <a:chExt cx="3626562" cy="172209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C87F85F-9D57-2550-3687-BDC37EDED03A}"/>
                </a:ext>
              </a:extLst>
            </p:cNvPr>
            <p:cNvGrpSpPr/>
            <p:nvPr/>
          </p:nvGrpSpPr>
          <p:grpSpPr>
            <a:xfrm>
              <a:off x="8168920" y="1049480"/>
              <a:ext cx="3620089" cy="1722090"/>
              <a:chOff x="8168920" y="1049480"/>
              <a:chExt cx="3620089" cy="1722090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0925AA8-85DB-1E6C-18D1-2D6A6188BA5F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3620089" cy="1461882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9EEA30A-81AE-161A-F486-9473262DF5E2}"/>
                  </a:ext>
                </a:extLst>
              </p:cNvPr>
              <p:cNvSpPr/>
              <p:nvPr/>
            </p:nvSpPr>
            <p:spPr>
              <a:xfrm>
                <a:off x="8240035" y="1049480"/>
                <a:ext cx="1524482" cy="478611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1EDD1F9-B472-728B-180E-6B30B75E9681}"/>
                </a:ext>
              </a:extLst>
            </p:cNvPr>
            <p:cNvSpPr txBox="1"/>
            <p:nvPr/>
          </p:nvSpPr>
          <p:spPr>
            <a:xfrm>
              <a:off x="8162447" y="1049480"/>
              <a:ext cx="1405000" cy="40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核心推进项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86CAAAD-0418-4B1D-D03F-031094B773C2}"/>
                </a:ext>
              </a:extLst>
            </p:cNvPr>
            <p:cNvSpPr/>
            <p:nvPr/>
          </p:nvSpPr>
          <p:spPr>
            <a:xfrm>
              <a:off x="9453677" y="1280973"/>
              <a:ext cx="319120" cy="55928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16893E2-B385-D3EC-AEF6-072D8DD2C21D}"/>
                </a:ext>
              </a:extLst>
            </p:cNvPr>
            <p:cNvSpPr txBox="1"/>
            <p:nvPr/>
          </p:nvSpPr>
          <p:spPr>
            <a:xfrm>
              <a:off x="8240035" y="1655908"/>
              <a:ext cx="31659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请分点描述核心的迭代或者推进产出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或者你可以尝试一句话说明本次汇报的核心推进项目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1C49667-AFCB-B200-5555-0EAEE39BD627}"/>
              </a:ext>
            </a:extLst>
          </p:cNvPr>
          <p:cNvGrpSpPr/>
          <p:nvPr/>
        </p:nvGrpSpPr>
        <p:grpSpPr>
          <a:xfrm>
            <a:off x="8162447" y="2691109"/>
            <a:ext cx="3626562" cy="1722090"/>
            <a:chOff x="8162447" y="1049480"/>
            <a:chExt cx="3626562" cy="172209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1EA42C9-27F2-4562-E53B-D9E552CE2B92}"/>
                </a:ext>
              </a:extLst>
            </p:cNvPr>
            <p:cNvGrpSpPr/>
            <p:nvPr/>
          </p:nvGrpSpPr>
          <p:grpSpPr>
            <a:xfrm>
              <a:off x="8168920" y="1049480"/>
              <a:ext cx="3620089" cy="1722090"/>
              <a:chOff x="8168920" y="1049480"/>
              <a:chExt cx="3620089" cy="1722090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D150427-A858-E349-9DEF-4599F9030D86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3620089" cy="1461882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31D1C8A-FDEC-7977-EF34-CF3C341BF31F}"/>
                  </a:ext>
                </a:extLst>
              </p:cNvPr>
              <p:cNvSpPr/>
              <p:nvPr/>
            </p:nvSpPr>
            <p:spPr>
              <a:xfrm>
                <a:off x="8240035" y="1049480"/>
                <a:ext cx="1524482" cy="478611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5D8BE62-7D94-B0B7-A409-82FB0D4B72DE}"/>
                </a:ext>
              </a:extLst>
            </p:cNvPr>
            <p:cNvSpPr txBox="1"/>
            <p:nvPr/>
          </p:nvSpPr>
          <p:spPr>
            <a:xfrm>
              <a:off x="8162447" y="1049480"/>
              <a:ext cx="1602070" cy="40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目前最大阻碍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46CF7FE-CF9F-7584-E694-BB7A618D284C}"/>
                </a:ext>
              </a:extLst>
            </p:cNvPr>
            <p:cNvSpPr/>
            <p:nvPr/>
          </p:nvSpPr>
          <p:spPr>
            <a:xfrm>
              <a:off x="9506077" y="1280973"/>
              <a:ext cx="289856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B78BC24-B263-815E-E792-294F6E5E6E5D}"/>
                </a:ext>
              </a:extLst>
            </p:cNvPr>
            <p:cNvSpPr txBox="1"/>
            <p:nvPr/>
          </p:nvSpPr>
          <p:spPr>
            <a:xfrm>
              <a:off x="8240035" y="1655908"/>
              <a:ext cx="3165949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请分点描述目前项目推进中最大难题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或者你可以尝试一句话说明目前最大困难，可以参考的类型包括但不限于：“时间”“人员”“设备”“网络”“经费”“思路”“技术”等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6A63E6E-D362-5725-4236-C8C5D647394F}"/>
              </a:ext>
            </a:extLst>
          </p:cNvPr>
          <p:cNvGrpSpPr/>
          <p:nvPr/>
        </p:nvGrpSpPr>
        <p:grpSpPr>
          <a:xfrm>
            <a:off x="8162447" y="4581449"/>
            <a:ext cx="3626562" cy="1722090"/>
            <a:chOff x="8162447" y="1049480"/>
            <a:chExt cx="3626562" cy="1722090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A8EEBA39-18C0-810E-4C10-B2B9184F738E}"/>
                </a:ext>
              </a:extLst>
            </p:cNvPr>
            <p:cNvGrpSpPr/>
            <p:nvPr/>
          </p:nvGrpSpPr>
          <p:grpSpPr>
            <a:xfrm>
              <a:off x="8168920" y="1049480"/>
              <a:ext cx="3620089" cy="1722090"/>
              <a:chOff x="8168920" y="1049480"/>
              <a:chExt cx="3620089" cy="1722090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7035E0C5-9751-6637-1806-03F55E9DFC8B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3620089" cy="1461882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9DC30292-4C27-F6BB-B952-73709EF65698}"/>
                  </a:ext>
                </a:extLst>
              </p:cNvPr>
              <p:cNvSpPr/>
              <p:nvPr/>
            </p:nvSpPr>
            <p:spPr>
              <a:xfrm>
                <a:off x="8240035" y="1049480"/>
                <a:ext cx="1524482" cy="478611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933EB6-1FB2-AC6B-22C0-E7BB2137AA05}"/>
                </a:ext>
              </a:extLst>
            </p:cNvPr>
            <p:cNvSpPr txBox="1"/>
            <p:nvPr/>
          </p:nvSpPr>
          <p:spPr>
            <a:xfrm>
              <a:off x="8162447" y="1049480"/>
              <a:ext cx="1602070" cy="40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下一步计划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5616FBA-BBA2-6C25-59E1-52F4575199DE}"/>
                </a:ext>
              </a:extLst>
            </p:cNvPr>
            <p:cNvSpPr/>
            <p:nvPr/>
          </p:nvSpPr>
          <p:spPr>
            <a:xfrm>
              <a:off x="9506077" y="1280973"/>
              <a:ext cx="289856" cy="45719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32EEF56-9720-BAA9-013B-831D907333EE}"/>
                </a:ext>
              </a:extLst>
            </p:cNvPr>
            <p:cNvSpPr txBox="1"/>
            <p:nvPr/>
          </p:nvSpPr>
          <p:spPr>
            <a:xfrm>
              <a:off x="8240035" y="1655908"/>
              <a:ext cx="31659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请分点描述下一步你准备如何进行项目开发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或者你可以尝试一句话概括未来一段时间内这个项目的规划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0E76E21A-435E-D50E-F47A-16A778EE3ECB}"/>
              </a:ext>
            </a:extLst>
          </p:cNvPr>
          <p:cNvSpPr/>
          <p:nvPr/>
        </p:nvSpPr>
        <p:spPr>
          <a:xfrm>
            <a:off x="7495335" y="1003581"/>
            <a:ext cx="275758" cy="272417"/>
          </a:xfrm>
          <a:prstGeom prst="rect">
            <a:avLst/>
          </a:prstGeom>
          <a:solidFill>
            <a:srgbClr val="9B1E2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1</a:t>
            </a:r>
            <a:endParaRPr lang="zh-CN" altLang="en-US" sz="1400" dirty="0">
              <a:latin typeface="Noto Serif SC ExtraLight" panose="02020200000000000000" pitchFamily="18" charset="-122"/>
              <a:ea typeface="Noto Serif SC ExtraLight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72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F402-D015-166A-13F3-E3C8C95D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DEF207E-4BBD-91EF-AD45-E3DB71607379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723F2E1-BF86-9A88-BC17-920F145084EF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642BA24-0531-4E73-EF17-205046C3B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C7028D1-DFD0-A813-2A9B-1D6060034E5A}"/>
              </a:ext>
            </a:extLst>
          </p:cNvPr>
          <p:cNvSpPr txBox="1"/>
          <p:nvPr/>
        </p:nvSpPr>
        <p:spPr>
          <a:xfrm>
            <a:off x="227906" y="126598"/>
            <a:ext cx="3282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KEY PROGRESS</a:t>
            </a:r>
            <a:endParaRPr lang="zh-CN" altLang="en-US" sz="28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6DF427-CDB7-5BD1-59D9-4A5DE665D686}"/>
              </a:ext>
            </a:extLst>
          </p:cNvPr>
          <p:cNvSpPr/>
          <p:nvPr/>
        </p:nvSpPr>
        <p:spPr>
          <a:xfrm>
            <a:off x="319119" y="649818"/>
            <a:ext cx="1202835" cy="45719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821106-1300-7FEB-6E65-76B87B7F9C63}"/>
              </a:ext>
            </a:extLst>
          </p:cNvPr>
          <p:cNvSpPr txBox="1"/>
          <p:nvPr/>
        </p:nvSpPr>
        <p:spPr>
          <a:xfrm>
            <a:off x="206760" y="710926"/>
            <a:ext cx="2984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文档撰写类进展汇报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5EE3692-B3C3-E160-DE77-913EB0CF7CEE}"/>
              </a:ext>
            </a:extLst>
          </p:cNvPr>
          <p:cNvSpPr/>
          <p:nvPr/>
        </p:nvSpPr>
        <p:spPr>
          <a:xfrm>
            <a:off x="2518819" y="1448155"/>
            <a:ext cx="165697" cy="165697"/>
          </a:xfrm>
          <a:prstGeom prst="ellipse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BCEDAFA-EE85-0216-5CF7-F8B682C05262}"/>
              </a:ext>
            </a:extLst>
          </p:cNvPr>
          <p:cNvSpPr/>
          <p:nvPr/>
        </p:nvSpPr>
        <p:spPr>
          <a:xfrm>
            <a:off x="2518819" y="2082536"/>
            <a:ext cx="165697" cy="165697"/>
          </a:xfrm>
          <a:prstGeom prst="ellipse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49804AF-B13A-E64B-A794-D98EED786F39}"/>
              </a:ext>
            </a:extLst>
          </p:cNvPr>
          <p:cNvSpPr/>
          <p:nvPr/>
        </p:nvSpPr>
        <p:spPr>
          <a:xfrm>
            <a:off x="2353123" y="3161247"/>
            <a:ext cx="497090" cy="497090"/>
          </a:xfrm>
          <a:prstGeom prst="ellipse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59282C2-1D3D-BF7E-D85D-393D2030E73F}"/>
              </a:ext>
            </a:extLst>
          </p:cNvPr>
          <p:cNvSpPr/>
          <p:nvPr/>
        </p:nvSpPr>
        <p:spPr>
          <a:xfrm>
            <a:off x="2518819" y="4651419"/>
            <a:ext cx="165697" cy="165697"/>
          </a:xfrm>
          <a:prstGeom prst="ellipse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061FC1D-24B0-1D44-3165-BC6E2DF485CD}"/>
              </a:ext>
            </a:extLst>
          </p:cNvPr>
          <p:cNvSpPr/>
          <p:nvPr/>
        </p:nvSpPr>
        <p:spPr>
          <a:xfrm>
            <a:off x="2518819" y="5391367"/>
            <a:ext cx="165697" cy="165697"/>
          </a:xfrm>
          <a:prstGeom prst="ellipse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F3E9922-B86F-1A3E-3666-22CCBBAF97EB}"/>
              </a:ext>
            </a:extLst>
          </p:cNvPr>
          <p:cNvSpPr/>
          <p:nvPr/>
        </p:nvSpPr>
        <p:spPr>
          <a:xfrm>
            <a:off x="2518819" y="6124706"/>
            <a:ext cx="165697" cy="165697"/>
          </a:xfrm>
          <a:prstGeom prst="ellipse">
            <a:avLst/>
          </a:prstGeom>
          <a:noFill/>
          <a:ln>
            <a:solidFill>
              <a:srgbClr val="9B1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9EC0FE9-857B-7F61-7054-507F81277CB2}"/>
              </a:ext>
            </a:extLst>
          </p:cNvPr>
          <p:cNvCxnSpPr>
            <a:stCxn id="2" idx="4"/>
            <a:endCxn id="4" idx="0"/>
          </p:cNvCxnSpPr>
          <p:nvPr/>
        </p:nvCxnSpPr>
        <p:spPr>
          <a:xfrm>
            <a:off x="2601668" y="1613852"/>
            <a:ext cx="0" cy="468684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F1495C4-419A-AA00-776E-5C3D86EA7EAF}"/>
              </a:ext>
            </a:extLst>
          </p:cNvPr>
          <p:cNvCxnSpPr>
            <a:stCxn id="4" idx="4"/>
            <a:endCxn id="11" idx="0"/>
          </p:cNvCxnSpPr>
          <p:nvPr/>
        </p:nvCxnSpPr>
        <p:spPr>
          <a:xfrm>
            <a:off x="2601668" y="2248233"/>
            <a:ext cx="0" cy="913014"/>
          </a:xfrm>
          <a:prstGeom prst="line">
            <a:avLst/>
          </a:prstGeom>
          <a:ln w="635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4EEB6E5-4932-4823-C70C-7C4F0C2E2EBF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2601668" y="3658337"/>
            <a:ext cx="0" cy="993082"/>
          </a:xfrm>
          <a:prstGeom prst="line">
            <a:avLst/>
          </a:prstGeom>
          <a:ln w="635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FB5D8F4-E777-28E5-B6DE-49F4C81D36E9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flipV="1">
            <a:off x="2601668" y="4817116"/>
            <a:ext cx="0" cy="574251"/>
          </a:xfrm>
          <a:prstGeom prst="line">
            <a:avLst/>
          </a:prstGeom>
          <a:ln w="635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DD0FC62-BA0F-1B45-7E35-B73F012AC156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V="1">
            <a:off x="2601668" y="5557064"/>
            <a:ext cx="0" cy="567642"/>
          </a:xfrm>
          <a:prstGeom prst="line">
            <a:avLst/>
          </a:prstGeom>
          <a:ln w="635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DDD37C9-99DC-83DB-1EC6-39FAC6E844D9}"/>
              </a:ext>
            </a:extLst>
          </p:cNvPr>
          <p:cNvGrpSpPr/>
          <p:nvPr/>
        </p:nvGrpSpPr>
        <p:grpSpPr>
          <a:xfrm>
            <a:off x="772870" y="1218757"/>
            <a:ext cx="1701513" cy="589245"/>
            <a:chOff x="1046346" y="1145270"/>
            <a:chExt cx="1701513" cy="58924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E4885B5-4322-02AC-D5CB-4A6950B1CC89}"/>
                </a:ext>
              </a:extLst>
            </p:cNvPr>
            <p:cNvSpPr txBox="1"/>
            <p:nvPr/>
          </p:nvSpPr>
          <p:spPr>
            <a:xfrm>
              <a:off x="1046346" y="1145270"/>
              <a:ext cx="149126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Introduction</a:t>
              </a:r>
              <a:endParaRPr lang="zh-CN" altLang="en-US" sz="16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E4228D1-D1AB-3B61-0F32-FCF12C434C7B}"/>
                </a:ext>
              </a:extLst>
            </p:cNvPr>
            <p:cNvSpPr txBox="1"/>
            <p:nvPr/>
          </p:nvSpPr>
          <p:spPr>
            <a:xfrm>
              <a:off x="1088358" y="1457516"/>
              <a:ext cx="696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完成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663BACA-A540-BCE2-D397-8141E521BE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96" y="1457516"/>
              <a:ext cx="1609463" cy="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B6CC26C-AC36-62CC-E993-C15C4F098D9F}"/>
              </a:ext>
            </a:extLst>
          </p:cNvPr>
          <p:cNvGrpSpPr/>
          <p:nvPr/>
        </p:nvGrpSpPr>
        <p:grpSpPr>
          <a:xfrm>
            <a:off x="772872" y="1864037"/>
            <a:ext cx="1828795" cy="589245"/>
            <a:chOff x="1046345" y="1145270"/>
            <a:chExt cx="1828795" cy="589245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A15E2EC-E090-1A75-C8CB-DE3F9F002680}"/>
                </a:ext>
              </a:extLst>
            </p:cNvPr>
            <p:cNvSpPr txBox="1"/>
            <p:nvPr/>
          </p:nvSpPr>
          <p:spPr>
            <a:xfrm>
              <a:off x="1046345" y="1145270"/>
              <a:ext cx="18287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Related Works</a:t>
              </a:r>
              <a:endParaRPr lang="zh-CN" altLang="en-US" sz="16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4EBFA0D-8746-79B4-C2B4-009013EC2C1D}"/>
                </a:ext>
              </a:extLst>
            </p:cNvPr>
            <p:cNvSpPr txBox="1"/>
            <p:nvPr/>
          </p:nvSpPr>
          <p:spPr>
            <a:xfrm>
              <a:off x="1088358" y="1457516"/>
              <a:ext cx="696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完成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11EEF7A-16A5-FD15-6AB7-71574F45B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393" y="1446617"/>
              <a:ext cx="1609463" cy="1090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DA69D29-E500-D53D-6404-AFAE11938984}"/>
              </a:ext>
            </a:extLst>
          </p:cNvPr>
          <p:cNvGrpSpPr/>
          <p:nvPr/>
        </p:nvGrpSpPr>
        <p:grpSpPr>
          <a:xfrm>
            <a:off x="374650" y="2985127"/>
            <a:ext cx="2227017" cy="823383"/>
            <a:chOff x="648123" y="1018488"/>
            <a:chExt cx="2227017" cy="823383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FC2F2AD-5081-84DC-2648-702D5255EB73}"/>
                </a:ext>
              </a:extLst>
            </p:cNvPr>
            <p:cNvSpPr txBox="1"/>
            <p:nvPr/>
          </p:nvSpPr>
          <p:spPr>
            <a:xfrm>
              <a:off x="648123" y="1018488"/>
              <a:ext cx="22270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System Design</a:t>
              </a:r>
              <a:endParaRPr lang="zh-CN" altLang="en-US" sz="20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6917E86-5C42-20C2-CD3A-6E8EB8825B3D}"/>
                </a:ext>
              </a:extLst>
            </p:cNvPr>
            <p:cNvSpPr txBox="1"/>
            <p:nvPr/>
          </p:nvSpPr>
          <p:spPr>
            <a:xfrm>
              <a:off x="648123" y="1503317"/>
              <a:ext cx="965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进行中</a:t>
              </a: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EADD3E1-46D0-77A5-5823-2C9FAEBE4DD7}"/>
                </a:ext>
              </a:extLst>
            </p:cNvPr>
            <p:cNvCxnSpPr>
              <a:cxnSpLocks/>
            </p:cNvCxnSpPr>
            <p:nvPr/>
          </p:nvCxnSpPr>
          <p:spPr>
            <a:xfrm>
              <a:off x="737023" y="1446617"/>
              <a:ext cx="2010833" cy="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76F197D-45D4-1396-607A-A25C0C95DD36}"/>
              </a:ext>
            </a:extLst>
          </p:cNvPr>
          <p:cNvGrpSpPr/>
          <p:nvPr/>
        </p:nvGrpSpPr>
        <p:grpSpPr>
          <a:xfrm>
            <a:off x="772872" y="4439644"/>
            <a:ext cx="1828795" cy="589245"/>
            <a:chOff x="1046345" y="1145270"/>
            <a:chExt cx="1828795" cy="58924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D9F726A-4E73-9FCF-B509-993BD70EA26F}"/>
                </a:ext>
              </a:extLst>
            </p:cNvPr>
            <p:cNvSpPr txBox="1"/>
            <p:nvPr/>
          </p:nvSpPr>
          <p:spPr>
            <a:xfrm>
              <a:off x="1046345" y="1145270"/>
              <a:ext cx="18287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User Study</a:t>
              </a:r>
              <a:endParaRPr lang="zh-CN" altLang="en-US" sz="16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CA9F15F-74CE-4F22-8523-916BAF351CF4}"/>
                </a:ext>
              </a:extLst>
            </p:cNvPr>
            <p:cNvSpPr txBox="1"/>
            <p:nvPr/>
          </p:nvSpPr>
          <p:spPr>
            <a:xfrm>
              <a:off x="1088358" y="1457516"/>
              <a:ext cx="696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下一步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6E99B63-9D90-7483-B450-D6CBE8E03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393" y="1446617"/>
              <a:ext cx="1609463" cy="1090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3E7C0BC-4B35-117D-88D0-C974C567F3D7}"/>
              </a:ext>
            </a:extLst>
          </p:cNvPr>
          <p:cNvGrpSpPr/>
          <p:nvPr/>
        </p:nvGrpSpPr>
        <p:grpSpPr>
          <a:xfrm>
            <a:off x="772872" y="5172869"/>
            <a:ext cx="1828795" cy="589245"/>
            <a:chOff x="1046345" y="1145270"/>
            <a:chExt cx="1828795" cy="589245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5925C1E-0021-9FFB-3528-5B204EC9667D}"/>
                </a:ext>
              </a:extLst>
            </p:cNvPr>
            <p:cNvSpPr txBox="1"/>
            <p:nvPr/>
          </p:nvSpPr>
          <p:spPr>
            <a:xfrm>
              <a:off x="1046345" y="1145270"/>
              <a:ext cx="18287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Discussion</a:t>
              </a:r>
              <a:endParaRPr lang="zh-CN" altLang="en-US" sz="16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EC482A7-2F6D-EA8D-9592-3505A34E01D9}"/>
                </a:ext>
              </a:extLst>
            </p:cNvPr>
            <p:cNvSpPr txBox="1"/>
            <p:nvPr/>
          </p:nvSpPr>
          <p:spPr>
            <a:xfrm>
              <a:off x="1088358" y="1457516"/>
              <a:ext cx="696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下一步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07B3E1EA-809E-2926-2A27-5CDBE45E18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393" y="1446617"/>
              <a:ext cx="1609463" cy="1090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6D9004A-5BB8-80B5-DBE4-45B883117C1A}"/>
              </a:ext>
            </a:extLst>
          </p:cNvPr>
          <p:cNvGrpSpPr/>
          <p:nvPr/>
        </p:nvGrpSpPr>
        <p:grpSpPr>
          <a:xfrm>
            <a:off x="772872" y="5909352"/>
            <a:ext cx="1828795" cy="589245"/>
            <a:chOff x="1046345" y="1145270"/>
            <a:chExt cx="1828795" cy="589245"/>
          </a:xfrm>
        </p:grpSpPr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E4E1FC38-B1F8-0467-9562-32F0EE9BFEEF}"/>
                </a:ext>
              </a:extLst>
            </p:cNvPr>
            <p:cNvSpPr txBox="1"/>
            <p:nvPr/>
          </p:nvSpPr>
          <p:spPr>
            <a:xfrm>
              <a:off x="1046345" y="1145270"/>
              <a:ext cx="18287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9B1E23"/>
                  </a:solidFill>
                  <a:latin typeface="Noto Serif SC Medium" panose="02020200000000000000" pitchFamily="18" charset="-122"/>
                  <a:ea typeface="Noto Serif SC Medium" panose="02020200000000000000" pitchFamily="18" charset="-122"/>
                </a:rPr>
                <a:t>Conclusion</a:t>
              </a:r>
              <a:endParaRPr lang="zh-CN" altLang="en-US" sz="16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FFEB4603-84EB-6104-AC11-D69AA35172DA}"/>
                </a:ext>
              </a:extLst>
            </p:cNvPr>
            <p:cNvSpPr txBox="1"/>
            <p:nvPr/>
          </p:nvSpPr>
          <p:spPr>
            <a:xfrm>
              <a:off x="1088358" y="1457516"/>
              <a:ext cx="6960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下一步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400E2E3-3886-0C0F-286F-820DD87DC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8393" y="1446617"/>
              <a:ext cx="1609463" cy="10900"/>
            </a:xfrm>
            <a:prstGeom prst="line">
              <a:avLst/>
            </a:prstGeom>
            <a:ln w="3175">
              <a:solidFill>
                <a:srgbClr val="9B1E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24A7D675-C22F-2493-7463-A75232A7F8FC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850213" y="3409792"/>
            <a:ext cx="248587" cy="0"/>
          </a:xfrm>
          <a:prstGeom prst="line">
            <a:avLst/>
          </a:prstGeom>
          <a:ln w="1270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50B0DA5-5C35-79EE-18B9-91396DCF3C60}"/>
              </a:ext>
            </a:extLst>
          </p:cNvPr>
          <p:cNvGrpSpPr/>
          <p:nvPr/>
        </p:nvGrpSpPr>
        <p:grpSpPr>
          <a:xfrm>
            <a:off x="3579506" y="551842"/>
            <a:ext cx="8021943" cy="1722090"/>
            <a:chOff x="8168920" y="1049480"/>
            <a:chExt cx="3620089" cy="1722090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CF728CAC-EF57-2D03-6E95-EABFFA9E68B2}"/>
                </a:ext>
              </a:extLst>
            </p:cNvPr>
            <p:cNvGrpSpPr/>
            <p:nvPr/>
          </p:nvGrpSpPr>
          <p:grpSpPr>
            <a:xfrm>
              <a:off x="8168920" y="1049480"/>
              <a:ext cx="3620089" cy="1722090"/>
              <a:chOff x="8168920" y="1049480"/>
              <a:chExt cx="3620089" cy="1722090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F8649F89-0BD3-06F5-7085-96EADA53718F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3620089" cy="1461882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B6D99438-7B7A-FDF3-71A1-CE1D304B6AD2}"/>
                  </a:ext>
                </a:extLst>
              </p:cNvPr>
              <p:cNvSpPr/>
              <p:nvPr/>
            </p:nvSpPr>
            <p:spPr>
              <a:xfrm>
                <a:off x="8240035" y="1049480"/>
                <a:ext cx="1262237" cy="478611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268347A4-D27A-594C-22B1-7856C2D49855}"/>
                </a:ext>
              </a:extLst>
            </p:cNvPr>
            <p:cNvSpPr txBox="1"/>
            <p:nvPr/>
          </p:nvSpPr>
          <p:spPr>
            <a:xfrm>
              <a:off x="8299292" y="1049480"/>
              <a:ext cx="1165727" cy="40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该部分写作主要内容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282074D2-D83D-1A53-893F-A75AF8CEB6CC}"/>
                </a:ext>
              </a:extLst>
            </p:cNvPr>
            <p:cNvSpPr/>
            <p:nvPr/>
          </p:nvSpPr>
          <p:spPr>
            <a:xfrm>
              <a:off x="9246195" y="1280973"/>
              <a:ext cx="319120" cy="55928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1B6049E6-8499-7BDB-A10D-A984A22D9232}"/>
                </a:ext>
              </a:extLst>
            </p:cNvPr>
            <p:cNvSpPr txBox="1"/>
            <p:nvPr/>
          </p:nvSpPr>
          <p:spPr>
            <a:xfrm>
              <a:off x="8240035" y="1655908"/>
              <a:ext cx="3165949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请分点介绍该部分你准备如何进行撰写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比如先介绍界面一的功能以及</a:t>
              </a:r>
              <a:r>
                <a:rPr lang="en-US" altLang="zh-CN" sz="1100" dirty="0">
                  <a:solidFill>
                    <a:srgbClr val="9B1E23"/>
                  </a:solidFill>
                </a:rPr>
                <a:t>walkthrough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再介绍界面二的功能以及</a:t>
              </a:r>
              <a:r>
                <a:rPr lang="en-US" altLang="zh-CN" sz="1100" dirty="0">
                  <a:solidFill>
                    <a:srgbClr val="9B1E23"/>
                  </a:solidFill>
                </a:rPr>
                <a:t>walkthrough</a:t>
              </a: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7DBFBA3-3318-8ED6-BFD4-092EB2FFC991}"/>
              </a:ext>
            </a:extLst>
          </p:cNvPr>
          <p:cNvGrpSpPr/>
          <p:nvPr/>
        </p:nvGrpSpPr>
        <p:grpSpPr>
          <a:xfrm>
            <a:off x="3579506" y="5665928"/>
            <a:ext cx="8021943" cy="840697"/>
            <a:chOff x="8168920" y="1049480"/>
            <a:chExt cx="3620089" cy="1722088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202394B1-FC44-DEEE-920D-4A532DF26CF3}"/>
                </a:ext>
              </a:extLst>
            </p:cNvPr>
            <p:cNvGrpSpPr/>
            <p:nvPr/>
          </p:nvGrpSpPr>
          <p:grpSpPr>
            <a:xfrm>
              <a:off x="8168920" y="1215149"/>
              <a:ext cx="3620089" cy="1556419"/>
              <a:chOff x="8168920" y="1215149"/>
              <a:chExt cx="3620089" cy="1556419"/>
            </a:xfrm>
          </p:grpSpPr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44E4F2E-FE7E-DB70-71E7-A1B0949E13C9}"/>
                  </a:ext>
                </a:extLst>
              </p:cNvPr>
              <p:cNvSpPr/>
              <p:nvPr/>
            </p:nvSpPr>
            <p:spPr>
              <a:xfrm>
                <a:off x="8168920" y="1528090"/>
                <a:ext cx="3620089" cy="1243478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7B6375A4-42B3-7CEE-6A21-D11C99698C80}"/>
                  </a:ext>
                </a:extLst>
              </p:cNvPr>
              <p:cNvSpPr/>
              <p:nvPr/>
            </p:nvSpPr>
            <p:spPr>
              <a:xfrm>
                <a:off x="8219887" y="1215149"/>
                <a:ext cx="1345428" cy="535881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29C52D0E-0587-268E-B2D2-A7CAAD2ECF42}"/>
                </a:ext>
              </a:extLst>
            </p:cNvPr>
            <p:cNvSpPr txBox="1"/>
            <p:nvPr/>
          </p:nvSpPr>
          <p:spPr>
            <a:xfrm>
              <a:off x="8299292" y="1049480"/>
              <a:ext cx="1405000" cy="405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该部分写作参考文献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C3026783-4C60-2345-EE01-AAFAECFD86B7}"/>
                </a:ext>
              </a:extLst>
            </p:cNvPr>
            <p:cNvSpPr/>
            <p:nvPr/>
          </p:nvSpPr>
          <p:spPr>
            <a:xfrm>
              <a:off x="9271192" y="1467918"/>
              <a:ext cx="319120" cy="10708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B5243C8B-BD20-128D-C107-91A2836A2C6C}"/>
                </a:ext>
              </a:extLst>
            </p:cNvPr>
            <p:cNvSpPr txBox="1"/>
            <p:nvPr/>
          </p:nvSpPr>
          <p:spPr>
            <a:xfrm>
              <a:off x="8240035" y="1886905"/>
              <a:ext cx="3165949" cy="535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放置链接</a:t>
              </a:r>
              <a:endParaRPr lang="en-US" altLang="zh-CN" sz="1100" dirty="0">
                <a:solidFill>
                  <a:srgbClr val="9B1E23"/>
                </a:solidFill>
              </a:endParaRP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113346FE-7CA1-B1A5-8799-91F1DB63CC12}"/>
              </a:ext>
            </a:extLst>
          </p:cNvPr>
          <p:cNvSpPr/>
          <p:nvPr/>
        </p:nvSpPr>
        <p:spPr>
          <a:xfrm>
            <a:off x="3565163" y="2415996"/>
            <a:ext cx="5039087" cy="3042468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C38B813-A692-041A-0EB0-17C19FD85C0B}"/>
              </a:ext>
            </a:extLst>
          </p:cNvPr>
          <p:cNvSpPr/>
          <p:nvPr/>
        </p:nvSpPr>
        <p:spPr>
          <a:xfrm>
            <a:off x="8839200" y="2415996"/>
            <a:ext cx="2705100" cy="3042468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336E595-6785-107D-79FE-3A845A71C677}"/>
              </a:ext>
            </a:extLst>
          </p:cNvPr>
          <p:cNvSpPr/>
          <p:nvPr/>
        </p:nvSpPr>
        <p:spPr>
          <a:xfrm>
            <a:off x="11325691" y="521818"/>
            <a:ext cx="275758" cy="272417"/>
          </a:xfrm>
          <a:prstGeom prst="rect">
            <a:avLst/>
          </a:prstGeom>
          <a:solidFill>
            <a:srgbClr val="9B1E2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1</a:t>
            </a:r>
            <a:endParaRPr lang="zh-CN" altLang="en-US" sz="1400" dirty="0">
              <a:latin typeface="Noto Serif SC ExtraLight" panose="02020200000000000000" pitchFamily="18" charset="-122"/>
              <a:ea typeface="Noto Serif SC ExtraLight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94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2FCD4-2777-A7B2-E5E2-ECADBD30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D648EBE-38C5-2324-A2D9-D5DD4D42B6A5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E9482F-EA07-DC62-418F-27815B0DACBE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9A2AD81-0A01-8184-7EFE-9F5561E3F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22D165F-50CB-BB84-5FC7-D4CCC414646B}"/>
              </a:ext>
            </a:extLst>
          </p:cNvPr>
          <p:cNvSpPr txBox="1"/>
          <p:nvPr/>
        </p:nvSpPr>
        <p:spPr>
          <a:xfrm>
            <a:off x="227906" y="126598"/>
            <a:ext cx="3282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KEY PROGRESS</a:t>
            </a:r>
            <a:endParaRPr lang="zh-CN" altLang="en-US" sz="28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55B21-FD1C-A80D-D13F-9C1624B8EFB0}"/>
              </a:ext>
            </a:extLst>
          </p:cNvPr>
          <p:cNvSpPr/>
          <p:nvPr/>
        </p:nvSpPr>
        <p:spPr>
          <a:xfrm>
            <a:off x="319119" y="649818"/>
            <a:ext cx="1202835" cy="45719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07A168-5ABA-20B7-309F-F48B8F72F653}"/>
              </a:ext>
            </a:extLst>
          </p:cNvPr>
          <p:cNvSpPr txBox="1"/>
          <p:nvPr/>
        </p:nvSpPr>
        <p:spPr>
          <a:xfrm>
            <a:off x="206760" y="710926"/>
            <a:ext cx="2984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用户实验类进展汇报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2429DE-8212-60D9-9CE9-CF0600FE73BD}"/>
              </a:ext>
            </a:extLst>
          </p:cNvPr>
          <p:cNvGrpSpPr/>
          <p:nvPr/>
        </p:nvGrpSpPr>
        <p:grpSpPr>
          <a:xfrm>
            <a:off x="331155" y="1422589"/>
            <a:ext cx="4944787" cy="1021755"/>
            <a:chOff x="8168920" y="937658"/>
            <a:chExt cx="2659798" cy="144268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28DB6E6-AB3C-8DD5-4E41-332EB2DFD63A}"/>
                </a:ext>
              </a:extLst>
            </p:cNvPr>
            <p:cNvGrpSpPr/>
            <p:nvPr/>
          </p:nvGrpSpPr>
          <p:grpSpPr>
            <a:xfrm>
              <a:off x="8168920" y="1049480"/>
              <a:ext cx="2659798" cy="1330858"/>
              <a:chOff x="8168920" y="1049480"/>
              <a:chExt cx="2659798" cy="1330858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BFAE0FD-3094-4D16-EA09-CA60CFB33ECE}"/>
                  </a:ext>
                </a:extLst>
              </p:cNvPr>
              <p:cNvSpPr/>
              <p:nvPr/>
            </p:nvSpPr>
            <p:spPr>
              <a:xfrm>
                <a:off x="8168920" y="1309689"/>
                <a:ext cx="2659798" cy="1070649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5A3A682-CCF4-2B78-8317-75BA745D10D6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1C37B1B-4ACF-6E77-865D-08485CA5C8BE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实验目标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6ED91A6-33AD-D184-1C7C-E77600F38E09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70BB3E5-E68D-88C9-6675-2310AE884F49}"/>
                </a:ext>
              </a:extLst>
            </p:cNvPr>
            <p:cNvSpPr txBox="1"/>
            <p:nvPr/>
          </p:nvSpPr>
          <p:spPr>
            <a:xfrm>
              <a:off x="8240036" y="1655908"/>
              <a:ext cx="1526902" cy="369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请用一句话概括实验目标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C62279D-E259-DBDC-F26F-7CA5C3DFDCD9}"/>
              </a:ext>
            </a:extLst>
          </p:cNvPr>
          <p:cNvGrpSpPr/>
          <p:nvPr/>
        </p:nvGrpSpPr>
        <p:grpSpPr>
          <a:xfrm>
            <a:off x="331155" y="2690273"/>
            <a:ext cx="4944787" cy="1637887"/>
            <a:chOff x="8168920" y="937658"/>
            <a:chExt cx="2659798" cy="231263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0D6CF5C-D89F-57B4-65A3-35E8363D66EA}"/>
                </a:ext>
              </a:extLst>
            </p:cNvPr>
            <p:cNvGrpSpPr/>
            <p:nvPr/>
          </p:nvGrpSpPr>
          <p:grpSpPr>
            <a:xfrm>
              <a:off x="8168920" y="1049480"/>
              <a:ext cx="2659798" cy="2200813"/>
              <a:chOff x="8168920" y="1049480"/>
              <a:chExt cx="2659798" cy="2200813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94422FA-DD16-CA44-9745-02C45B3CF604}"/>
                  </a:ext>
                </a:extLst>
              </p:cNvPr>
              <p:cNvSpPr/>
              <p:nvPr/>
            </p:nvSpPr>
            <p:spPr>
              <a:xfrm>
                <a:off x="8168920" y="1309689"/>
                <a:ext cx="2659798" cy="1940604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4A0A886-3A6E-78B9-FC15-0DEC1C2F8A35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C2AA009-C89F-3ECC-7858-69BBAAED3377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变量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182B790-B6DE-46D8-BA7D-F55DA7C364FE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14F823E-C386-4AD7-EDAE-33E48AA4C9DB}"/>
                </a:ext>
              </a:extLst>
            </p:cNvPr>
            <p:cNvSpPr txBox="1"/>
            <p:nvPr/>
          </p:nvSpPr>
          <p:spPr>
            <a:xfrm>
              <a:off x="8240036" y="1655908"/>
              <a:ext cx="1526902" cy="1325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请简述自变量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请简述因变量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请简述条件变量以及无关变量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A170B51-6F5E-830E-DC15-5434F5B5E23E}"/>
              </a:ext>
            </a:extLst>
          </p:cNvPr>
          <p:cNvGrpSpPr/>
          <p:nvPr/>
        </p:nvGrpSpPr>
        <p:grpSpPr>
          <a:xfrm>
            <a:off x="331155" y="4591645"/>
            <a:ext cx="4944787" cy="1250353"/>
            <a:chOff x="8168920" y="937658"/>
            <a:chExt cx="2659798" cy="1765452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435BEDB-EBF4-F4F2-ADB5-F67269A5D723}"/>
                </a:ext>
              </a:extLst>
            </p:cNvPr>
            <p:cNvGrpSpPr/>
            <p:nvPr/>
          </p:nvGrpSpPr>
          <p:grpSpPr>
            <a:xfrm>
              <a:off x="8168920" y="1049480"/>
              <a:ext cx="2659798" cy="1653630"/>
              <a:chOff x="8168920" y="1049480"/>
              <a:chExt cx="2659798" cy="1653630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C59F2C0-302E-0D2D-D847-4344C522F914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2659798" cy="1393422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BD62068-4A6D-C2A0-285E-BF3A81065544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A5032EB-146E-B698-169C-3412AA718748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实验假设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52734B3-2FBD-1499-9E30-D8018C5CD17F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F42C391-3A1B-C48A-B980-63325DC69266}"/>
                </a:ext>
              </a:extLst>
            </p:cNvPr>
            <p:cNvSpPr txBox="1"/>
            <p:nvPr/>
          </p:nvSpPr>
          <p:spPr>
            <a:xfrm>
              <a:off x="8240036" y="1655908"/>
              <a:ext cx="2377887" cy="847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请分点阐述实验假设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假设的格式参考标准的</a:t>
              </a:r>
              <a:r>
                <a:rPr lang="en-US" altLang="zh-CN" sz="1100" dirty="0">
                  <a:solidFill>
                    <a:srgbClr val="9B1E23"/>
                  </a:solidFill>
                </a:rPr>
                <a:t>H1</a:t>
              </a:r>
              <a:r>
                <a:rPr lang="zh-CN" altLang="en-US" sz="1100" dirty="0">
                  <a:solidFill>
                    <a:srgbClr val="9B1E23"/>
                  </a:solidFill>
                </a:rPr>
                <a:t>，</a:t>
              </a:r>
              <a:r>
                <a:rPr lang="en-US" altLang="zh-CN" sz="1100" dirty="0">
                  <a:solidFill>
                    <a:srgbClr val="9B1E23"/>
                  </a:solidFill>
                </a:rPr>
                <a:t>H2</a:t>
              </a:r>
              <a:r>
                <a:rPr lang="zh-CN" altLang="en-US" sz="1100" dirty="0">
                  <a:solidFill>
                    <a:srgbClr val="9B1E23"/>
                  </a:solidFill>
                </a:rPr>
                <a:t>，或者对应系统设计的</a:t>
              </a:r>
              <a:r>
                <a:rPr lang="en-US" altLang="zh-CN" sz="1100" dirty="0">
                  <a:solidFill>
                    <a:srgbClr val="9B1E23"/>
                  </a:solidFill>
                </a:rPr>
                <a:t>Design Goal</a:t>
              </a:r>
              <a:endParaRPr lang="zh-CN" altLang="en-US" sz="1100" dirty="0">
                <a:solidFill>
                  <a:srgbClr val="9B1E23"/>
                </a:solidFill>
              </a:endParaRP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20A811E-2462-A29E-E32D-5B01757F10C4}"/>
              </a:ext>
            </a:extLst>
          </p:cNvPr>
          <p:cNvCxnSpPr>
            <a:cxnSpLocks/>
          </p:cNvCxnSpPr>
          <p:nvPr/>
        </p:nvCxnSpPr>
        <p:spPr>
          <a:xfrm>
            <a:off x="5613382" y="1050361"/>
            <a:ext cx="0" cy="5444782"/>
          </a:xfrm>
          <a:prstGeom prst="line">
            <a:avLst/>
          </a:prstGeom>
          <a:ln w="6350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672C12D-AD0C-2B94-EF7C-9ECF66750B9B}"/>
              </a:ext>
            </a:extLst>
          </p:cNvPr>
          <p:cNvGrpSpPr/>
          <p:nvPr/>
        </p:nvGrpSpPr>
        <p:grpSpPr>
          <a:xfrm>
            <a:off x="5950822" y="880203"/>
            <a:ext cx="2198948" cy="1672133"/>
            <a:chOff x="8168921" y="937658"/>
            <a:chExt cx="1182813" cy="2360990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22BB334-C32D-7454-CE53-871E910BE7A0}"/>
                </a:ext>
              </a:extLst>
            </p:cNvPr>
            <p:cNvGrpSpPr/>
            <p:nvPr/>
          </p:nvGrpSpPr>
          <p:grpSpPr>
            <a:xfrm>
              <a:off x="8168921" y="1049480"/>
              <a:ext cx="1182813" cy="2249168"/>
              <a:chOff x="8168921" y="1049480"/>
              <a:chExt cx="1182813" cy="2249168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13641F4D-7949-B544-76AC-FBD5AB0203B0}"/>
                  </a:ext>
                </a:extLst>
              </p:cNvPr>
              <p:cNvSpPr/>
              <p:nvPr/>
            </p:nvSpPr>
            <p:spPr>
              <a:xfrm>
                <a:off x="8168921" y="1309688"/>
                <a:ext cx="1182813" cy="1988960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F6187B7-4D13-4D13-9C0B-7BB946BAB0A1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A916F39-208E-62DF-81DF-1BDBFBDE3963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当周进度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66063A2-47DB-A4C7-7DC8-E2608EFA3510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413C590-727B-0A52-E20A-C6A2FD9E4644}"/>
                </a:ext>
              </a:extLst>
            </p:cNvPr>
            <p:cNvSpPr txBox="1"/>
            <p:nvPr/>
          </p:nvSpPr>
          <p:spPr>
            <a:xfrm>
              <a:off x="8240036" y="1655908"/>
              <a:ext cx="938987" cy="13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本周完成实验数量：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本周回收数据类型：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本周完成分析数量：</a:t>
              </a: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6F50A4F7-EFA2-94D0-487B-D76BFABEBDEB}"/>
              </a:ext>
            </a:extLst>
          </p:cNvPr>
          <p:cNvSpPr/>
          <p:nvPr/>
        </p:nvSpPr>
        <p:spPr>
          <a:xfrm>
            <a:off x="5921789" y="3108438"/>
            <a:ext cx="5566261" cy="3406517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ADC392A-65E6-DE31-28C6-A1B6835E0165}"/>
              </a:ext>
            </a:extLst>
          </p:cNvPr>
          <p:cNvSpPr txBox="1"/>
          <p:nvPr/>
        </p:nvSpPr>
        <p:spPr>
          <a:xfrm>
            <a:off x="5894541" y="2613008"/>
            <a:ext cx="1745655" cy="40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重要图表展示</a:t>
            </a:r>
            <a:endParaRPr lang="zh-CN" altLang="en-US" sz="1600" b="1" baseline="30000" dirty="0">
              <a:solidFill>
                <a:srgbClr val="9B1E23"/>
              </a:solidFill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1B7D621-277C-250B-4BAC-2C46834EA594}"/>
              </a:ext>
            </a:extLst>
          </p:cNvPr>
          <p:cNvGrpSpPr/>
          <p:nvPr/>
        </p:nvGrpSpPr>
        <p:grpSpPr>
          <a:xfrm>
            <a:off x="8423212" y="880203"/>
            <a:ext cx="3217240" cy="1672133"/>
            <a:chOff x="8168920" y="937658"/>
            <a:chExt cx="1730552" cy="2360990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66F01D9-A2C9-63B2-D93C-12875EB24BCC}"/>
                </a:ext>
              </a:extLst>
            </p:cNvPr>
            <p:cNvGrpSpPr/>
            <p:nvPr/>
          </p:nvGrpSpPr>
          <p:grpSpPr>
            <a:xfrm>
              <a:off x="8168920" y="1049480"/>
              <a:ext cx="1730552" cy="2249168"/>
              <a:chOff x="8168920" y="1049480"/>
              <a:chExt cx="1730552" cy="2249168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CED85FF-C5AC-37E7-A576-E13BBDE2E784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1730552" cy="1988960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79213FD5-6F65-5540-23A6-14C17481A653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4D9E736-D48B-E02D-8407-FB67223A0940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分析简述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B73DD31-23B7-F173-196C-57367057DB2C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2BA71CE-70F2-BE4C-D5FD-DC451AC48C16}"/>
                </a:ext>
              </a:extLst>
            </p:cNvPr>
            <p:cNvSpPr txBox="1"/>
            <p:nvPr/>
          </p:nvSpPr>
          <p:spPr>
            <a:xfrm>
              <a:off x="8240036" y="1852508"/>
              <a:ext cx="1503294" cy="847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下文图表对应什么变量的探查</a:t>
              </a: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100" dirty="0">
                <a:solidFill>
                  <a:srgbClr val="9B1E23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目前正在进行什么假设的分析</a:t>
              </a: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2BB2124D-2A73-8C1F-D9F0-C5E380332524}"/>
              </a:ext>
            </a:extLst>
          </p:cNvPr>
          <p:cNvSpPr/>
          <p:nvPr/>
        </p:nvSpPr>
        <p:spPr>
          <a:xfrm>
            <a:off x="11350171" y="2746215"/>
            <a:ext cx="275758" cy="272417"/>
          </a:xfrm>
          <a:prstGeom prst="rect">
            <a:avLst/>
          </a:prstGeom>
          <a:solidFill>
            <a:srgbClr val="9B1E2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1</a:t>
            </a:r>
            <a:endParaRPr lang="zh-CN" altLang="en-US" sz="1400" dirty="0">
              <a:latin typeface="Noto Serif SC ExtraLight" panose="02020200000000000000" pitchFamily="18" charset="-122"/>
              <a:ea typeface="Noto Serif SC ExtraLight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757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8ED5-2B3D-B706-1A06-9B4518C0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B98BD9E-6AF3-DC22-B558-37BAC85329F6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E41A044-EBDE-21E7-16FB-C962D96060E2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D215970-8AF3-1915-224D-156725D8E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053818E-FD34-7FB9-C82E-CE4D7C4AD6F6}"/>
              </a:ext>
            </a:extLst>
          </p:cNvPr>
          <p:cNvSpPr txBox="1"/>
          <p:nvPr/>
        </p:nvSpPr>
        <p:spPr>
          <a:xfrm>
            <a:off x="227906" y="126598"/>
            <a:ext cx="3282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KEY PROGRESS</a:t>
            </a:r>
            <a:endParaRPr lang="zh-CN" altLang="en-US" sz="28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C02B55-CF75-0C8E-4F8C-0A6E4B4EF72B}"/>
              </a:ext>
            </a:extLst>
          </p:cNvPr>
          <p:cNvSpPr/>
          <p:nvPr/>
        </p:nvSpPr>
        <p:spPr>
          <a:xfrm>
            <a:off x="319119" y="649818"/>
            <a:ext cx="1202835" cy="45719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2019E7-DCF5-8DAF-49ED-2A0F43C84EC6}"/>
              </a:ext>
            </a:extLst>
          </p:cNvPr>
          <p:cNvSpPr txBox="1"/>
          <p:nvPr/>
        </p:nvSpPr>
        <p:spPr>
          <a:xfrm>
            <a:off x="206760" y="710926"/>
            <a:ext cx="2984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设计项目类进展汇报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ADB683-01D6-227A-1C33-42570032BD86}"/>
              </a:ext>
            </a:extLst>
          </p:cNvPr>
          <p:cNvGrpSpPr/>
          <p:nvPr/>
        </p:nvGrpSpPr>
        <p:grpSpPr>
          <a:xfrm>
            <a:off x="447267" y="1322878"/>
            <a:ext cx="2860040" cy="1245861"/>
            <a:chOff x="8168920" y="937658"/>
            <a:chExt cx="1538414" cy="175911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8636D27-D03F-4BCA-66F1-771764E82F5F}"/>
                </a:ext>
              </a:extLst>
            </p:cNvPr>
            <p:cNvGrpSpPr/>
            <p:nvPr/>
          </p:nvGrpSpPr>
          <p:grpSpPr>
            <a:xfrm>
              <a:off x="8168920" y="1049480"/>
              <a:ext cx="1538414" cy="1647288"/>
              <a:chOff x="8168920" y="1049480"/>
              <a:chExt cx="1538414" cy="164728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8E02680-369B-F769-2326-16754AD54C64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1538414" cy="1387080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1E1CFFC-3B29-2D39-A200-CB14F2DC047C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37C92B-3869-2A4C-51AB-D9D960FA109D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设计目标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9B93A08-1783-3EAE-02D5-6CB4E5BD5F59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421707E-E1AD-6731-CF6F-C01CC232ADCE}"/>
                </a:ext>
              </a:extLst>
            </p:cNvPr>
            <p:cNvSpPr txBox="1"/>
            <p:nvPr/>
          </p:nvSpPr>
          <p:spPr>
            <a:xfrm>
              <a:off x="8240036" y="1655908"/>
              <a:ext cx="1253647" cy="370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请用一句话概括设计目标</a:t>
              </a: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995815D0-3B6E-EE97-AEC8-09DFEBF89C30}"/>
              </a:ext>
            </a:extLst>
          </p:cNvPr>
          <p:cNvSpPr/>
          <p:nvPr/>
        </p:nvSpPr>
        <p:spPr>
          <a:xfrm>
            <a:off x="4003267" y="1352984"/>
            <a:ext cx="7349681" cy="4437544"/>
          </a:xfrm>
          <a:prstGeom prst="rect">
            <a:avLst/>
          </a:prstGeom>
          <a:pattFill prst="shingle">
            <a:fgClr>
              <a:srgbClr val="9B1E23"/>
            </a:fgClr>
            <a:bgClr>
              <a:srgbClr val="F6F6EE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D080EE-D3C4-B6E1-054E-214822CD402B}"/>
              </a:ext>
            </a:extLst>
          </p:cNvPr>
          <p:cNvSpPr txBox="1"/>
          <p:nvPr/>
        </p:nvSpPr>
        <p:spPr>
          <a:xfrm>
            <a:off x="3897529" y="5851201"/>
            <a:ext cx="2392471" cy="40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演示参考（可附链接）</a:t>
            </a:r>
            <a:endParaRPr lang="zh-CN" altLang="en-US" sz="1600" b="1" baseline="30000" dirty="0">
              <a:solidFill>
                <a:srgbClr val="9B1E23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E3514-D502-816F-E1A3-52E4BDA03803}"/>
              </a:ext>
            </a:extLst>
          </p:cNvPr>
          <p:cNvSpPr/>
          <p:nvPr/>
        </p:nvSpPr>
        <p:spPr>
          <a:xfrm>
            <a:off x="11399611" y="1352984"/>
            <a:ext cx="275758" cy="272417"/>
          </a:xfrm>
          <a:prstGeom prst="rect">
            <a:avLst/>
          </a:prstGeom>
          <a:solidFill>
            <a:srgbClr val="9B1E2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1</a:t>
            </a:r>
            <a:endParaRPr lang="zh-CN" altLang="en-US" sz="1400" dirty="0">
              <a:latin typeface="Noto Serif SC ExtraLight" panose="02020200000000000000" pitchFamily="18" charset="-122"/>
              <a:ea typeface="Noto Serif SC ExtraLight" panose="02020200000000000000" pitchFamily="18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9445AB5-A84A-4215-A9BC-3570A6268977}"/>
              </a:ext>
            </a:extLst>
          </p:cNvPr>
          <p:cNvGrpSpPr/>
          <p:nvPr/>
        </p:nvGrpSpPr>
        <p:grpSpPr>
          <a:xfrm>
            <a:off x="447267" y="2883163"/>
            <a:ext cx="2860040" cy="1245861"/>
            <a:chOff x="8168920" y="937658"/>
            <a:chExt cx="1538414" cy="175911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7861B5B-E06F-62FA-7C36-083FFA0467B3}"/>
                </a:ext>
              </a:extLst>
            </p:cNvPr>
            <p:cNvGrpSpPr/>
            <p:nvPr/>
          </p:nvGrpSpPr>
          <p:grpSpPr>
            <a:xfrm>
              <a:off x="8168920" y="1049480"/>
              <a:ext cx="1538414" cy="1647288"/>
              <a:chOff x="8168920" y="1049480"/>
              <a:chExt cx="1538414" cy="1647288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3E44DD00-6944-F1AD-8E73-7A04F47EB7C9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1538414" cy="1387080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AB6BF12-3549-16EF-FD29-B81B4F06C9E4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7EB1E87-91E5-1866-6510-352659E34ED4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当周进展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1DD7A1A-D0A6-DB66-5F14-D50355A6B829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62AC02F-3C8B-B39A-1626-15D3A3BD7583}"/>
                </a:ext>
              </a:extLst>
            </p:cNvPr>
            <p:cNvSpPr txBox="1"/>
            <p:nvPr/>
          </p:nvSpPr>
          <p:spPr>
            <a:xfrm>
              <a:off x="8240036" y="1655908"/>
              <a:ext cx="1253647" cy="369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请用一句话概括当周进展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7346055-5EF5-53C0-9D77-72A910F1060E}"/>
              </a:ext>
            </a:extLst>
          </p:cNvPr>
          <p:cNvGrpSpPr/>
          <p:nvPr/>
        </p:nvGrpSpPr>
        <p:grpSpPr>
          <a:xfrm>
            <a:off x="447267" y="4553613"/>
            <a:ext cx="2860040" cy="1245861"/>
            <a:chOff x="8168920" y="937658"/>
            <a:chExt cx="1538414" cy="175911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E9C87C9-A661-7F0A-392C-356C466C6714}"/>
                </a:ext>
              </a:extLst>
            </p:cNvPr>
            <p:cNvGrpSpPr/>
            <p:nvPr/>
          </p:nvGrpSpPr>
          <p:grpSpPr>
            <a:xfrm>
              <a:off x="8168920" y="1049480"/>
              <a:ext cx="1538414" cy="1647288"/>
              <a:chOff x="8168920" y="1049480"/>
              <a:chExt cx="1538414" cy="16472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3D72F6E-2B7D-544D-184F-0DB64CF02FD9}"/>
                  </a:ext>
                </a:extLst>
              </p:cNvPr>
              <p:cNvSpPr/>
              <p:nvPr/>
            </p:nvSpPr>
            <p:spPr>
              <a:xfrm>
                <a:off x="8168920" y="1309688"/>
                <a:ext cx="1538414" cy="1387080"/>
              </a:xfrm>
              <a:prstGeom prst="rect">
                <a:avLst/>
              </a:prstGeom>
              <a:noFill/>
              <a:ln w="9525">
                <a:solidFill>
                  <a:srgbClr val="9B1E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AAC48D6-5501-05D5-C3CB-BABCE2989E27}"/>
                  </a:ext>
                </a:extLst>
              </p:cNvPr>
              <p:cNvSpPr/>
              <p:nvPr/>
            </p:nvSpPr>
            <p:spPr>
              <a:xfrm>
                <a:off x="8240036" y="1049480"/>
                <a:ext cx="859383" cy="478612"/>
              </a:xfrm>
              <a:prstGeom prst="rect">
                <a:avLst/>
              </a:prstGeom>
              <a:solidFill>
                <a:srgbClr val="F6F6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3CC168F-1BE5-ADE1-F7A8-1A451CBF7B71}"/>
                </a:ext>
              </a:extLst>
            </p:cNvPr>
            <p:cNvSpPr txBox="1"/>
            <p:nvPr/>
          </p:nvSpPr>
          <p:spPr>
            <a:xfrm>
              <a:off x="8258499" y="937658"/>
              <a:ext cx="938987" cy="572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9B1E23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下周规划</a:t>
              </a:r>
              <a:endParaRPr lang="zh-CN" altLang="en-US" sz="1600" b="1" baseline="30000" dirty="0">
                <a:solidFill>
                  <a:srgbClr val="9B1E23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666FCEC-C8B1-CEFB-9A40-745FE7985FE4}"/>
                </a:ext>
              </a:extLst>
            </p:cNvPr>
            <p:cNvSpPr/>
            <p:nvPr/>
          </p:nvSpPr>
          <p:spPr>
            <a:xfrm>
              <a:off x="8853266" y="1280971"/>
              <a:ext cx="319120" cy="64554"/>
            </a:xfrm>
            <a:prstGeom prst="rect">
              <a:avLst/>
            </a:prstGeom>
            <a:solidFill>
              <a:srgbClr val="9B1E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4ACC60A-CBBD-B8D9-A45A-C34A333692D0}"/>
                </a:ext>
              </a:extLst>
            </p:cNvPr>
            <p:cNvSpPr txBox="1"/>
            <p:nvPr/>
          </p:nvSpPr>
          <p:spPr>
            <a:xfrm>
              <a:off x="8240036" y="1655908"/>
              <a:ext cx="1253647" cy="369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rgbClr val="9B1E23"/>
                  </a:solidFill>
                </a:rPr>
                <a:t>请用一句话概括下周规划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148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88AF-710D-7C2D-F532-83B28620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7AE332D-2FA2-D8F6-874E-CD2715F460A7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8348A61-37CD-C7B0-2055-12941586F4D0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95E5459-298A-1D4E-B4C1-39F273BD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27E7078-0822-133B-43E6-E9D13A54113A}"/>
              </a:ext>
            </a:extLst>
          </p:cNvPr>
          <p:cNvSpPr txBox="1"/>
          <p:nvPr/>
        </p:nvSpPr>
        <p:spPr>
          <a:xfrm>
            <a:off x="227906" y="1086720"/>
            <a:ext cx="64559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solidFill>
                  <a:srgbClr val="9B1E23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WHAT IS BOTHERING US?</a:t>
            </a:r>
            <a:endParaRPr lang="zh-CN" altLang="en-US" sz="7200" dirty="0">
              <a:solidFill>
                <a:srgbClr val="9B1E23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5ADBCE-6C96-64EC-F3FF-AB5672BE235C}"/>
              </a:ext>
            </a:extLst>
          </p:cNvPr>
          <p:cNvSpPr txBox="1"/>
          <p:nvPr/>
        </p:nvSpPr>
        <p:spPr>
          <a:xfrm>
            <a:off x="7575576" y="2333215"/>
            <a:ext cx="4049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当前遇到的最大困难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A1EC684-D600-73DC-75E8-651F2EBE856E}"/>
              </a:ext>
            </a:extLst>
          </p:cNvPr>
          <p:cNvCxnSpPr>
            <a:cxnSpLocks/>
          </p:cNvCxnSpPr>
          <p:nvPr/>
        </p:nvCxnSpPr>
        <p:spPr>
          <a:xfrm>
            <a:off x="7575576" y="2858062"/>
            <a:ext cx="4049296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6811A7-0C59-5A5F-E06A-56C668BB1602}"/>
              </a:ext>
            </a:extLst>
          </p:cNvPr>
          <p:cNvSpPr/>
          <p:nvPr/>
        </p:nvSpPr>
        <p:spPr>
          <a:xfrm>
            <a:off x="7278371" y="2794880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F10AB6-9AFA-C398-881D-11A39A47E34E}"/>
              </a:ext>
            </a:extLst>
          </p:cNvPr>
          <p:cNvSpPr txBox="1"/>
          <p:nvPr/>
        </p:nvSpPr>
        <p:spPr>
          <a:xfrm>
            <a:off x="5505541" y="3629299"/>
            <a:ext cx="5814809" cy="1425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“尽量一段话总结一下当前阶段自己或者团队遇到的最大困难和挑战，以及自己和团队准备如何应对？是否需要老师或者别的同学的支持？”</a:t>
            </a:r>
            <a:endParaRPr lang="zh-CN" altLang="en-US" sz="2000" b="1" dirty="0">
              <a:solidFill>
                <a:srgbClr val="9B1E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23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79AD-33BE-AB6B-A07A-DB26CC4B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6E93293-55CE-1EDA-B592-A72B4FC3DD69}"/>
              </a:ext>
            </a:extLst>
          </p:cNvPr>
          <p:cNvSpPr/>
          <p:nvPr/>
        </p:nvSpPr>
        <p:spPr>
          <a:xfrm>
            <a:off x="5399314" y="0"/>
            <a:ext cx="6792686" cy="6858000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CE2F9B0-D947-FF32-3C7E-55B1D494CEB8}"/>
              </a:ext>
            </a:extLst>
          </p:cNvPr>
          <p:cNvGrpSpPr/>
          <p:nvPr/>
        </p:nvGrpSpPr>
        <p:grpSpPr>
          <a:xfrm>
            <a:off x="8681458" y="0"/>
            <a:ext cx="3510542" cy="289616"/>
            <a:chOff x="9111396" y="43653"/>
            <a:chExt cx="5534769" cy="456613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4BB3313-B94C-37B5-0B95-6DD640A2C6B8}"/>
                </a:ext>
              </a:extLst>
            </p:cNvPr>
            <p:cNvSpPr txBox="1"/>
            <p:nvPr/>
          </p:nvSpPr>
          <p:spPr>
            <a:xfrm>
              <a:off x="9946232" y="43653"/>
              <a:ext cx="4699933" cy="41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1100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1100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1100" b="1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1100" b="1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1100" b="1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1100" b="1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FFFEB61-B86F-90D4-630C-E75244E55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0"/>
                      </a14:imgEffect>
                    </a14:imgLayer>
                  </a14:imgProps>
                </a:ext>
              </a:extLst>
            </a:blip>
            <a:srcRect r="73044" b="-10285"/>
            <a:stretch>
              <a:fillRect/>
            </a:stretch>
          </p:blipFill>
          <p:spPr>
            <a:xfrm>
              <a:off x="9111396" y="87808"/>
              <a:ext cx="753232" cy="41245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6140ACB-9FBB-CA7D-A325-7A2092671F9E}"/>
              </a:ext>
            </a:extLst>
          </p:cNvPr>
          <p:cNvSpPr txBox="1"/>
          <p:nvPr/>
        </p:nvSpPr>
        <p:spPr>
          <a:xfrm>
            <a:off x="5540134" y="612844"/>
            <a:ext cx="64559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7200" dirty="0">
                <a:solidFill>
                  <a:schemeClr val="bg1"/>
                </a:solidFill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THINGS THAT NEEDS To BE DECIDED By SUPERVISOR</a:t>
            </a:r>
            <a:endParaRPr lang="zh-CN" altLang="en-US" sz="7200" dirty="0">
              <a:solidFill>
                <a:schemeClr val="bg1"/>
              </a:solidFill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2C8536-E8DC-BCE8-5D05-C023C6B06A4C}"/>
              </a:ext>
            </a:extLst>
          </p:cNvPr>
          <p:cNvSpPr txBox="1"/>
          <p:nvPr/>
        </p:nvSpPr>
        <p:spPr>
          <a:xfrm>
            <a:off x="195943" y="612844"/>
            <a:ext cx="4049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我需要帮助决策的内容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BE59CC-9754-16BD-DC9B-AEE0CD48CFB7}"/>
              </a:ext>
            </a:extLst>
          </p:cNvPr>
          <p:cNvSpPr txBox="1"/>
          <p:nvPr/>
        </p:nvSpPr>
        <p:spPr>
          <a:xfrm>
            <a:off x="578397" y="2310075"/>
            <a:ext cx="3964048" cy="327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9B1E23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“请在此说明目前哪些地方需要老师或者学长学姐的决策帮助，并且说明自己需要什么形式的帮助，工作或者生活方面都可以，例如，经费支持，人员支持，心理辅导，生理疗养，辅助写作，实习生招募等”</a:t>
            </a:r>
            <a:endParaRPr lang="zh-CN" altLang="en-US" sz="2000" b="1" dirty="0">
              <a:solidFill>
                <a:srgbClr val="9B1E23"/>
              </a:solidFill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B9BBEF-B503-9C0D-7D60-B648FDB3EA8E}"/>
              </a:ext>
            </a:extLst>
          </p:cNvPr>
          <p:cNvCxnSpPr>
            <a:cxnSpLocks/>
          </p:cNvCxnSpPr>
          <p:nvPr/>
        </p:nvCxnSpPr>
        <p:spPr>
          <a:xfrm>
            <a:off x="578397" y="1276004"/>
            <a:ext cx="4049296" cy="0"/>
          </a:xfrm>
          <a:prstGeom prst="line">
            <a:avLst/>
          </a:prstGeom>
          <a:ln w="3175">
            <a:solidFill>
              <a:srgbClr val="9B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845FD73-945F-C0A2-630E-7525762E0CC3}"/>
              </a:ext>
            </a:extLst>
          </p:cNvPr>
          <p:cNvSpPr/>
          <p:nvPr/>
        </p:nvSpPr>
        <p:spPr>
          <a:xfrm>
            <a:off x="281192" y="1212822"/>
            <a:ext cx="1209856" cy="126364"/>
          </a:xfrm>
          <a:prstGeom prst="rect">
            <a:avLst/>
          </a:prstGeom>
          <a:solidFill>
            <a:srgbClr val="9B1E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62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1208</Words>
  <Application>Microsoft Office PowerPoint</Application>
  <PresentationFormat>宽屏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Noto Serif SC ExtraLight</vt:lpstr>
      <vt:lpstr>Noto Serif SC Medium</vt:lpstr>
      <vt:lpstr>等线</vt:lpstr>
      <vt:lpstr>等线 Light</vt:lpstr>
      <vt:lpstr>新宋体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Wang</dc:creator>
  <cp:lastModifiedBy>Ziyi Wang</cp:lastModifiedBy>
  <cp:revision>149</cp:revision>
  <dcterms:created xsi:type="dcterms:W3CDTF">2026-06-24T03:14:40Z</dcterms:created>
  <dcterms:modified xsi:type="dcterms:W3CDTF">2026-06-24T08:46:34Z</dcterms:modified>
</cp:coreProperties>
</file>