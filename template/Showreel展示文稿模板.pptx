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CC00"/>
    <a:srgbClr val="FFFF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82816" autoAdjust="0"/>
  </p:normalViewPr>
  <p:slideViewPr>
    <p:cSldViewPr snapToGrid="0">
      <p:cViewPr>
        <p:scale>
          <a:sx n="100" d="100"/>
          <a:sy n="100" d="100"/>
        </p:scale>
        <p:origin x="224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F6EB09-D86E-4714-9A8B-8C3449D87C08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3EB916-C7E0-4266-8C68-6C78DDAD72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8557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【</a:t>
            </a:r>
            <a:r>
              <a:rPr lang="zh-CN" altLang="en-US" dirty="0"/>
              <a:t>标题页</a:t>
            </a:r>
            <a:r>
              <a:rPr lang="en-US" altLang="zh-CN" dirty="0"/>
              <a:t>】</a:t>
            </a:r>
            <a:br>
              <a:rPr lang="en-US" altLang="zh-CN" dirty="0"/>
            </a:br>
            <a:r>
              <a:rPr lang="zh-CN" altLang="en-US" dirty="0"/>
              <a:t>需要询问并且让用户编辑的内容：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项目中英文名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项目一句话简要介绍，中英文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/>
              <a:t>项目代表性图片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介绍人英文名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展示时间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3EB916-C7E0-4266-8C68-6C78DDAD72D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7849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【</a:t>
            </a:r>
            <a:r>
              <a:rPr lang="zh-CN" altLang="en-US" dirty="0"/>
              <a:t>介绍页</a:t>
            </a:r>
            <a:r>
              <a:rPr lang="en-US" altLang="zh-CN" dirty="0"/>
              <a:t>】</a:t>
            </a:r>
            <a:br>
              <a:rPr lang="en-US" altLang="zh-CN" dirty="0"/>
            </a:br>
            <a:r>
              <a:rPr lang="zh-CN" altLang="en-US" dirty="0"/>
              <a:t>需要询问并且让用户编辑的内容：</a:t>
            </a:r>
            <a:endParaRPr lang="en-US" altLang="zh-CN" dirty="0"/>
          </a:p>
          <a:p>
            <a:r>
              <a:rPr lang="en-US" altLang="zh-CN" dirty="0"/>
              <a:t>1. </a:t>
            </a:r>
            <a:r>
              <a:rPr lang="zh-CN" altLang="en-US" dirty="0"/>
              <a:t>汇报人以及所属小组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 汇报人中英文名以及每个人的</a:t>
            </a:r>
            <a:r>
              <a:rPr lang="en-US" altLang="zh-CN" dirty="0"/>
              <a:t>tag</a:t>
            </a:r>
            <a:r>
              <a:rPr lang="zh-CN" altLang="en-US" dirty="0"/>
              <a:t>，简短介绍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3EB916-C7E0-4266-8C68-6C78DDAD72D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3257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【</a:t>
            </a:r>
            <a:r>
              <a:rPr lang="zh-CN" altLang="en-US" dirty="0"/>
              <a:t>设计目标页</a:t>
            </a:r>
            <a:r>
              <a:rPr lang="en-US" altLang="zh-CN" dirty="0"/>
              <a:t>】</a:t>
            </a:r>
            <a:br>
              <a:rPr lang="en-US" altLang="zh-CN" dirty="0"/>
            </a:br>
            <a:r>
              <a:rPr lang="zh-CN" altLang="en-US" dirty="0"/>
              <a:t>需要询问并且让用户编辑的内容：</a:t>
            </a:r>
            <a:endParaRPr lang="en-US" altLang="zh-CN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CN" altLang="en-US" dirty="0"/>
              <a:t>设计目标名称，简短描述以及详细描述，最多支持三个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3EB916-C7E0-4266-8C68-6C78DDAD72D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95131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【</a:t>
            </a:r>
            <a:r>
              <a:rPr lang="zh-CN" altLang="en-US" dirty="0"/>
              <a:t>展示页</a:t>
            </a:r>
            <a:r>
              <a:rPr lang="en-US" altLang="zh-CN" dirty="0"/>
              <a:t>1】</a:t>
            </a:r>
            <a:br>
              <a:rPr lang="en-US" altLang="zh-CN" dirty="0"/>
            </a:br>
            <a:r>
              <a:rPr lang="zh-CN" altLang="en-US" dirty="0"/>
              <a:t>需要询问并且让用户编辑的内容：</a:t>
            </a:r>
            <a:endParaRPr lang="en-US" altLang="zh-CN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CN" altLang="en-US" dirty="0"/>
              <a:t>一张图</a:t>
            </a:r>
            <a:endParaRPr lang="en-US" altLang="zh-CN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CN" altLang="en-US" dirty="0"/>
              <a:t>对于图片的描述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3EB916-C7E0-4266-8C68-6C78DDAD72D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62960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【</a:t>
            </a:r>
            <a:r>
              <a:rPr lang="zh-CN" altLang="en-US" dirty="0"/>
              <a:t>展示页</a:t>
            </a:r>
            <a:r>
              <a:rPr lang="en-US" altLang="zh-CN" dirty="0"/>
              <a:t>2】</a:t>
            </a:r>
            <a:br>
              <a:rPr lang="en-US" altLang="zh-CN" dirty="0"/>
            </a:br>
            <a:r>
              <a:rPr lang="zh-CN" altLang="en-US" dirty="0"/>
              <a:t>需要询问并且让用户编辑的内容：</a:t>
            </a:r>
            <a:endParaRPr lang="en-US" altLang="zh-CN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CN" altLang="en-US" dirty="0"/>
              <a:t>两张图</a:t>
            </a:r>
            <a:endParaRPr lang="en-US" altLang="zh-CN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CN" altLang="en-US" dirty="0"/>
              <a:t>对于图片的描述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3EB916-C7E0-4266-8C68-6C78DDAD72D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41711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【</a:t>
            </a:r>
            <a:r>
              <a:rPr lang="zh-CN" altLang="en-US" dirty="0"/>
              <a:t>展示页</a:t>
            </a:r>
            <a:r>
              <a:rPr lang="en-US" altLang="zh-CN" dirty="0"/>
              <a:t>3】</a:t>
            </a:r>
            <a:br>
              <a:rPr lang="en-US" altLang="zh-CN" dirty="0"/>
            </a:br>
            <a:r>
              <a:rPr lang="zh-CN" altLang="en-US" dirty="0"/>
              <a:t>需要询问并且让用户编辑的内容：</a:t>
            </a:r>
            <a:endParaRPr lang="en-US" altLang="zh-CN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CN" altLang="en-US" dirty="0"/>
              <a:t>一张图</a:t>
            </a:r>
            <a:endParaRPr lang="en-US" altLang="zh-CN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CN" altLang="en-US" dirty="0"/>
              <a:t>对于图片的描述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3EB916-C7E0-4266-8C68-6C78DDAD72D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35196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【</a:t>
            </a:r>
            <a:r>
              <a:rPr lang="zh-CN" altLang="en-US" dirty="0"/>
              <a:t>展示页</a:t>
            </a:r>
            <a:r>
              <a:rPr lang="en-US" altLang="zh-CN" dirty="0"/>
              <a:t>4】</a:t>
            </a:r>
            <a:br>
              <a:rPr lang="en-US" altLang="zh-CN" dirty="0"/>
            </a:br>
            <a:r>
              <a:rPr lang="zh-CN" altLang="en-US" dirty="0"/>
              <a:t>需要询问并且让用户编辑的内容：</a:t>
            </a:r>
            <a:endParaRPr lang="en-US" altLang="zh-CN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CN" altLang="en-US" dirty="0"/>
              <a:t>三张图</a:t>
            </a:r>
            <a:endParaRPr lang="en-US" altLang="zh-CN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CN" altLang="en-US" dirty="0"/>
              <a:t>对于图片的描述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3EB916-C7E0-4266-8C68-6C78DDAD72D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02166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展示页</a:t>
            </a:r>
            <a:r>
              <a:rPr lang="en-US" altLang="zh-CN" dirty="0"/>
              <a:t>5】</a:t>
            </a:r>
            <a:br>
              <a:rPr lang="en-US" altLang="zh-CN" dirty="0"/>
            </a:br>
            <a:r>
              <a:rPr lang="zh-CN" altLang="en-US" dirty="0"/>
              <a:t>需要询问并且让用户编辑的内容：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图片长图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功能名称，功能简短介绍以及功能详细介绍，最多三个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3EB916-C7E0-4266-8C68-6C78DDAD72D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51359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结束页</a:t>
            </a:r>
            <a:r>
              <a:rPr lang="en-US" altLang="zh-CN" dirty="0"/>
              <a:t>】</a:t>
            </a:r>
            <a:br>
              <a:rPr lang="en-US" altLang="zh-CN" dirty="0"/>
            </a:br>
            <a:r>
              <a:rPr lang="zh-CN" altLang="en-US" dirty="0"/>
              <a:t>需要询问并且让用户编辑的内容：</a:t>
            </a:r>
            <a:br>
              <a:rPr lang="en-US" altLang="zh-CN" dirty="0"/>
            </a:br>
            <a:r>
              <a:rPr lang="en-US" altLang="zh-CN" dirty="0"/>
              <a:t>1. </a:t>
            </a:r>
            <a:r>
              <a:rPr lang="zh-CN" altLang="en-US" dirty="0"/>
              <a:t>汇报人以及所属小组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 汇报人中英文名以及联系方式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3EB916-C7E0-4266-8C68-6C78DDAD72D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3423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B771D3-C60F-28A3-2522-E2C4D83900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91E48FC-FD02-CFF7-7DDB-2647C1E15A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084A2A-431D-13C6-514F-6A4185564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86578-0A30-4C0A-AC72-DF5A48739216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6ABDFA-801E-546C-593A-589380403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3F3030-FE18-E953-B89D-833433FC4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7D211-5E1B-4BA0-8746-B1849C0512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2478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FDCB9B-D876-5721-FB43-0CCB20BA3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C3ABCE-12B4-CCC3-C504-CEB8F7B96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0BCBFB-87BE-7A55-8E58-9F0E571A6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86578-0A30-4C0A-AC72-DF5A48739216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B6DCEB-06C9-5DE3-052E-8B54299F5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2475C7-DE4E-6DCD-9E9B-1A998FBDD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7D211-5E1B-4BA0-8746-B1849C0512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4732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92997E-D213-A15E-970D-08F6A53BE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F57075-D03A-F913-F19A-22C491A7B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B7A952-EDD1-D52C-D97B-DB0A50A70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86578-0A30-4C0A-AC72-DF5A48739216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07268A-64E2-CF57-E4CA-D58107EDE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03633C-2215-7273-F28C-DAC9E25EB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7D211-5E1B-4BA0-8746-B1849C0512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9710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595565-135E-0384-F2E2-89F7EF734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72F34F-83F3-07FA-8145-5A818BC33C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FDF3D84-2EBB-B484-91EA-7EC56AAD0D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A95FA96-1219-FA9F-DA65-74D6E91A4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86578-0A30-4C0A-AC72-DF5A48739216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D493E3A-ECF1-016D-8D34-378E42F35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CC002A-678E-347F-FA2F-84C87163B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7D211-5E1B-4BA0-8746-B1849C0512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6285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5ED13E-30F2-E1B7-FACB-B3407E2D5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EFC5AC-B5CD-513E-96D0-B9C7BAF6A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68E5C7-1D49-DAE1-3C28-8263CCB60C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9A3DB8A-00A7-FEF3-6A4A-9FFEE1E7C7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A7179FE-6881-9BB5-8A8E-50FDD10417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16DFA7F-69E1-19A0-C8D7-FCCB07A76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86578-0A30-4C0A-AC72-DF5A48739216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DEFF3A2-31C6-996E-1910-5A3B951A7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18A5556-B698-02F7-768C-A5C1D678D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7D211-5E1B-4BA0-8746-B1849C0512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1653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371618-753B-7EC3-8514-20C2CA9D9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5C1247B-6196-4E12-723E-EDAB59823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86578-0A30-4C0A-AC72-DF5A48739216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9FAD373-7FEE-BB77-AEBB-C12E9743A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490A9A5-25CE-5BF8-E0D0-5074CB6DB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7D211-5E1B-4BA0-8746-B1849C0512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3040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71F0B83-9839-7C9B-969C-A6B25BB12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86578-0A30-4C0A-AC72-DF5A48739216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C39C958-EF42-03E0-3283-5DBF4291E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C8C680-562A-E230-87B3-32712A501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7D211-5E1B-4BA0-8746-B1849C0512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8428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D56969-4329-F3D6-1364-D1F64629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7FC7FF-EE44-F1FA-EACC-9D285659C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781BC07-FB3A-0CC9-0414-8CD091E9DF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E3054A6-674D-1115-0F54-42A10F8BE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86578-0A30-4C0A-AC72-DF5A48739216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620F41-FE95-6449-003F-B90FE45E5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7E4F279-8BE5-32C8-E0C0-F36D82887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7D211-5E1B-4BA0-8746-B1849C0512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1288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6CEF79-AB1C-B594-E16C-D7EFDA810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8A44F48-DF91-5234-4326-CD2EA59291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D124073-4F41-8493-005F-E74C7722C3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4F44EF-9E7F-6ABE-8995-1E8C55142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86578-0A30-4C0A-AC72-DF5A48739216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13A31A-4AD5-96F4-743F-1F141CDFF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F8A393-5A47-A218-B623-0588E7050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7D211-5E1B-4BA0-8746-B1849C0512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6543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17ABA0-7C9D-E9C9-E2B9-7FE72EBCF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847FE3-731D-CA9E-B2D2-B677F03173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022010-449A-E369-985C-7367788BC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86578-0A30-4C0A-AC72-DF5A48739216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C71259-53B8-A20D-BE23-5FC44C9A9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D3941E-E0B5-5DEE-48E6-1629CC6B8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7D211-5E1B-4BA0-8746-B1849C0512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4113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179A2ED-13AC-3E33-548E-A70E013EDF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418C8FF-664D-C56F-4AF3-385E69262A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29148F-1F46-D84B-DDDF-BABAC6A4F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86578-0A30-4C0A-AC72-DF5A48739216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521E21-6CFB-4C7C-C213-924D307D4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5100E5-B4E1-78C9-C97D-6FD2BF7D4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7D211-5E1B-4BA0-8746-B1849C0512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2748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EDBD3F6-EF17-6695-76EF-05747D433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F4447-9A9A-8E6D-E7F2-0E8DECB309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016D2F-5ED1-28D2-6733-64FB524B66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586578-0A30-4C0A-AC72-DF5A48739216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F9A368-D234-05EA-368F-81E687C4FB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93F0B9-CF26-B8E9-6A0A-7946F1FA85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A7D211-5E1B-4BA0-8746-B1849C0512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6907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2C31F0AE-32FE-A4CF-DD8D-EDE89BAD5519}"/>
              </a:ext>
            </a:extLst>
          </p:cNvPr>
          <p:cNvSpPr txBox="1"/>
          <p:nvPr/>
        </p:nvSpPr>
        <p:spPr>
          <a:xfrm rot="16200000">
            <a:off x="8104363" y="2824977"/>
            <a:ext cx="761405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0" dirty="0">
                <a:latin typeface="Bodoni MT Black" panose="02070A03080606020203" pitchFamily="18" charset="0"/>
              </a:rPr>
              <a:t>Showcase</a:t>
            </a:r>
            <a:endParaRPr lang="zh-CN" altLang="en-US" sz="12000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4D6DD204-73B4-06CF-C180-131439103F1E}"/>
              </a:ext>
            </a:extLst>
          </p:cNvPr>
          <p:cNvGrpSpPr/>
          <p:nvPr/>
        </p:nvGrpSpPr>
        <p:grpSpPr>
          <a:xfrm>
            <a:off x="9901194" y="87807"/>
            <a:ext cx="1896306" cy="392992"/>
            <a:chOff x="8923071" y="87808"/>
            <a:chExt cx="3062320" cy="705516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701E27F6-4127-2C23-CF4F-901F2D3CA734}"/>
                </a:ext>
              </a:extLst>
            </p:cNvPr>
            <p:cNvSpPr txBox="1"/>
            <p:nvPr/>
          </p:nvSpPr>
          <p:spPr>
            <a:xfrm>
              <a:off x="8923071" y="461804"/>
              <a:ext cx="3062320" cy="3315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6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浙江大学人工智能学院</a:t>
              </a:r>
              <a:r>
                <a:rPr lang="zh-CN" altLang="en-US" sz="600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 </a:t>
              </a:r>
              <a:r>
                <a:rPr lang="en-US" altLang="zh-CN" sz="600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| </a:t>
              </a:r>
              <a:r>
                <a:rPr lang="en-US" altLang="zh-CN" sz="6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InLab </a:t>
              </a:r>
              <a:r>
                <a:rPr lang="zh-CN" altLang="en-US" sz="6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尤伟涛小组</a:t>
              </a:r>
              <a:r>
                <a:rPr lang="en-US" altLang="zh-CN" sz="6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 </a:t>
              </a:r>
              <a:endParaRPr lang="zh-CN" altLang="en-US" sz="600" b="1" dirty="0">
                <a:latin typeface="新宋体" panose="02010609030101010101" pitchFamily="49" charset="-122"/>
                <a:ea typeface="新宋体" panose="02010609030101010101" pitchFamily="49" charset="-122"/>
              </a:endParaRPr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6BD09138-135A-D41D-8C4C-A3E3463F37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11396" y="87808"/>
              <a:ext cx="2794214" cy="373994"/>
            </a:xfrm>
            <a:prstGeom prst="rect">
              <a:avLst/>
            </a:prstGeom>
          </p:spPr>
        </p:pic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B39D2707-BA26-B43B-D27F-B3119909EB42}"/>
              </a:ext>
            </a:extLst>
          </p:cNvPr>
          <p:cNvSpPr txBox="1"/>
          <p:nvPr/>
        </p:nvSpPr>
        <p:spPr>
          <a:xfrm rot="16200000">
            <a:off x="-3146118" y="1958464"/>
            <a:ext cx="646969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2000" dirty="0">
                <a:latin typeface="Bodoni MT Black" panose="02070A03080606020203" pitchFamily="18" charset="0"/>
              </a:rPr>
              <a:t>Project</a:t>
            </a:r>
            <a:endParaRPr lang="zh-CN" altLang="en-US" sz="12000" dirty="0">
              <a:latin typeface="Bodoni MT Black" panose="02070A03080606020203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C5CA5BF-B0B5-FD34-B8D1-94A6CCBF1BC9}"/>
              </a:ext>
            </a:extLst>
          </p:cNvPr>
          <p:cNvSpPr/>
          <p:nvPr/>
        </p:nvSpPr>
        <p:spPr>
          <a:xfrm>
            <a:off x="4473444" y="665465"/>
            <a:ext cx="7194898" cy="5838582"/>
          </a:xfrm>
          <a:prstGeom prst="rect">
            <a:avLst/>
          </a:prstGeom>
          <a:pattFill prst="dashHorz">
            <a:fgClr>
              <a:schemeClr val="tx2">
                <a:lumMod val="25000"/>
                <a:lumOff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7793EAD-4B3B-EE6A-2F75-227AD57F1D8A}"/>
              </a:ext>
            </a:extLst>
          </p:cNvPr>
          <p:cNvSpPr/>
          <p:nvPr/>
        </p:nvSpPr>
        <p:spPr>
          <a:xfrm>
            <a:off x="1885550" y="1461468"/>
            <a:ext cx="3778649" cy="44685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0EE425D5-B810-B55D-5F1E-83A1B946BA59}"/>
              </a:ext>
            </a:extLst>
          </p:cNvPr>
          <p:cNvCxnSpPr/>
          <p:nvPr/>
        </p:nvCxnSpPr>
        <p:spPr>
          <a:xfrm>
            <a:off x="1472313" y="6657292"/>
            <a:ext cx="6150279" cy="0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DF308DD0-13F4-5572-B973-AF049DDF8363}"/>
              </a:ext>
            </a:extLst>
          </p:cNvPr>
          <p:cNvCxnSpPr>
            <a:cxnSpLocks/>
          </p:cNvCxnSpPr>
          <p:nvPr/>
        </p:nvCxnSpPr>
        <p:spPr>
          <a:xfrm flipV="1">
            <a:off x="844850" y="2927960"/>
            <a:ext cx="0" cy="4196219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椭圆 17">
            <a:extLst>
              <a:ext uri="{FF2B5EF4-FFF2-40B4-BE49-F238E27FC236}">
                <a16:creationId xmlns:a16="http://schemas.microsoft.com/office/drawing/2014/main" id="{4D88E95E-05D7-D48A-A16E-90AE510D2B07}"/>
              </a:ext>
            </a:extLst>
          </p:cNvPr>
          <p:cNvSpPr/>
          <p:nvPr/>
        </p:nvSpPr>
        <p:spPr>
          <a:xfrm>
            <a:off x="808315" y="5316256"/>
            <a:ext cx="68893" cy="6889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D576377E-8B58-4631-5604-D588E895D5D2}"/>
              </a:ext>
            </a:extLst>
          </p:cNvPr>
          <p:cNvSpPr/>
          <p:nvPr/>
        </p:nvSpPr>
        <p:spPr>
          <a:xfrm>
            <a:off x="10795130" y="518915"/>
            <a:ext cx="108434" cy="10843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7598B452-3F1F-5AB7-515F-062D0D3350EE}"/>
              </a:ext>
            </a:extLst>
          </p:cNvPr>
          <p:cNvSpPr/>
          <p:nvPr/>
        </p:nvSpPr>
        <p:spPr>
          <a:xfrm>
            <a:off x="1396906" y="6603075"/>
            <a:ext cx="108434" cy="10843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1D38EAE4-3720-4588-938A-FB74095A0EB9}"/>
              </a:ext>
            </a:extLst>
          </p:cNvPr>
          <p:cNvGrpSpPr/>
          <p:nvPr/>
        </p:nvGrpSpPr>
        <p:grpSpPr>
          <a:xfrm>
            <a:off x="3260900" y="3631409"/>
            <a:ext cx="2505207" cy="2414995"/>
            <a:chOff x="2323578" y="1599597"/>
            <a:chExt cx="2505207" cy="2414995"/>
          </a:xfrm>
        </p:grpSpPr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6037F84A-5405-CB0C-3DBE-FF23F00AF7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28785" y="1599597"/>
              <a:ext cx="0" cy="2414995"/>
            </a:xfrm>
            <a:prstGeom prst="line">
              <a:avLst/>
            </a:prstGeom>
            <a:ln w="31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7355196A-3E05-6B7E-48EF-CD2DFDA7B8F0}"/>
                </a:ext>
              </a:extLst>
            </p:cNvPr>
            <p:cNvCxnSpPr>
              <a:cxnSpLocks/>
            </p:cNvCxnSpPr>
            <p:nvPr/>
          </p:nvCxnSpPr>
          <p:spPr>
            <a:xfrm>
              <a:off x="2323578" y="4014592"/>
              <a:ext cx="2505207" cy="0"/>
            </a:xfrm>
            <a:prstGeom prst="line">
              <a:avLst/>
            </a:prstGeom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5A1D25F2-1E4D-09FB-1572-7243E0AE54E2}"/>
              </a:ext>
            </a:extLst>
          </p:cNvPr>
          <p:cNvSpPr txBox="1"/>
          <p:nvPr/>
        </p:nvSpPr>
        <p:spPr>
          <a:xfrm>
            <a:off x="1344247" y="665465"/>
            <a:ext cx="3573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latin typeface="汉仪旗黑 Lenovo 60S" panose="00000500000000000000" pitchFamily="2" charset="-122"/>
                <a:ea typeface="汉仪旗黑 Lenovo 60S" panose="00000500000000000000" pitchFamily="2" charset="-122"/>
              </a:rPr>
              <a:t>项目名称</a:t>
            </a:r>
            <a:endParaRPr lang="en-US" altLang="zh-CN" sz="4800" dirty="0">
              <a:latin typeface="汉仪旗黑 Lenovo 60S" panose="00000500000000000000" pitchFamily="2" charset="-122"/>
              <a:ea typeface="汉仪旗黑 Lenovo 60S" panose="00000500000000000000" pitchFamily="2" charset="-122"/>
            </a:endParaRPr>
          </a:p>
          <a:p>
            <a:r>
              <a:rPr lang="en-US" altLang="zh-CN" sz="4800" dirty="0">
                <a:latin typeface="Berlin Sans FB Demi" panose="020E0802020502020306" pitchFamily="34" charset="0"/>
              </a:rPr>
              <a:t>OUR PROJECT NAME</a:t>
            </a:r>
            <a:endParaRPr lang="zh-CN" altLang="en-US" sz="4800" dirty="0">
              <a:latin typeface="Berlin Sans FB Demi" panose="020E0802020502020306" pitchFamily="34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3229AAA-3CE2-AA05-9887-A871D7DDCB4D}"/>
              </a:ext>
            </a:extLst>
          </p:cNvPr>
          <p:cNvSpPr txBox="1"/>
          <p:nvPr/>
        </p:nvSpPr>
        <p:spPr>
          <a:xfrm>
            <a:off x="2849364" y="5462272"/>
            <a:ext cx="281483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100" dirty="0">
                <a:latin typeface="汉仪旗黑 Lenovo 60S" panose="00000500000000000000" pitchFamily="2" charset="-122"/>
                <a:ea typeface="汉仪旗黑 Lenovo 60S" panose="00000500000000000000" pitchFamily="2" charset="-122"/>
              </a:rPr>
              <a:t>ZIYI WANG &amp; FENGJIE LU</a:t>
            </a:r>
          </a:p>
          <a:p>
            <a:pPr algn="r"/>
            <a:r>
              <a:rPr lang="en-US" altLang="zh-CN" sz="1100" dirty="0">
                <a:latin typeface="汉仪旗黑 Lenovo 60S" panose="00000500000000000000" pitchFamily="2" charset="-122"/>
                <a:ea typeface="汉仪旗黑 Lenovo 60S" panose="00000500000000000000" pitchFamily="2" charset="-122"/>
              </a:rPr>
              <a:t>25/06/2024</a:t>
            </a:r>
            <a:endParaRPr lang="zh-CN" altLang="en-US" sz="1100" dirty="0">
              <a:latin typeface="Berlin Sans FB Demi" panose="020E0802020502020306" pitchFamily="34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D151A71-6530-4420-14F7-46F2023583D5}"/>
              </a:ext>
            </a:extLst>
          </p:cNvPr>
          <p:cNvSpPr txBox="1"/>
          <p:nvPr/>
        </p:nvSpPr>
        <p:spPr>
          <a:xfrm>
            <a:off x="1922461" y="3682853"/>
            <a:ext cx="36222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这是一个有关于如何讲工程类或者设计类项目进行展示的现代化</a:t>
            </a:r>
            <a:r>
              <a:rPr lang="en-US" altLang="zh-CN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PPT</a:t>
            </a:r>
            <a:r>
              <a:rPr lang="zh-CN" altLang="en-US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模板</a:t>
            </a:r>
            <a:endParaRPr lang="en-US" altLang="zh-CN" sz="1100" dirty="0">
              <a:latin typeface="Berlin Sans FB" panose="020E0602020502020306" pitchFamily="34" charset="0"/>
              <a:ea typeface="汉仪旗黑 Lenovo 60S" panose="00000500000000000000" pitchFamily="2" charset="-122"/>
            </a:endParaRPr>
          </a:p>
          <a:p>
            <a:r>
              <a:rPr lang="en-US" altLang="zh-CN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This is how you can showcase your project in a rather Morden way</a:t>
            </a:r>
          </a:p>
        </p:txBody>
      </p:sp>
    </p:spTree>
    <p:extLst>
      <p:ext uri="{BB962C8B-B14F-4D97-AF65-F5344CB8AC3E}">
        <p14:creationId xmlns:p14="http://schemas.microsoft.com/office/powerpoint/2010/main" val="3479339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B3E67-4B9A-89F6-8768-B37307F0E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8F4B45E-7F29-9B17-5357-4963C63A2B0F}"/>
              </a:ext>
            </a:extLst>
          </p:cNvPr>
          <p:cNvSpPr/>
          <p:nvPr/>
        </p:nvSpPr>
        <p:spPr>
          <a:xfrm>
            <a:off x="0" y="834817"/>
            <a:ext cx="10143067" cy="152923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0A1EB601-E170-AFEC-9FDD-542F9DFB172F}"/>
              </a:ext>
            </a:extLst>
          </p:cNvPr>
          <p:cNvCxnSpPr>
            <a:cxnSpLocks/>
          </p:cNvCxnSpPr>
          <p:nvPr/>
        </p:nvCxnSpPr>
        <p:spPr>
          <a:xfrm flipV="1">
            <a:off x="844850" y="0"/>
            <a:ext cx="0" cy="480799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椭圆 3">
            <a:extLst>
              <a:ext uri="{FF2B5EF4-FFF2-40B4-BE49-F238E27FC236}">
                <a16:creationId xmlns:a16="http://schemas.microsoft.com/office/drawing/2014/main" id="{E00980AF-B55A-FFE8-7EF2-0005F568F2E4}"/>
              </a:ext>
            </a:extLst>
          </p:cNvPr>
          <p:cNvSpPr/>
          <p:nvPr/>
        </p:nvSpPr>
        <p:spPr>
          <a:xfrm>
            <a:off x="752517" y="354019"/>
            <a:ext cx="184666" cy="18466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35DFE645-4990-D6BE-1061-F25BDD34FB5B}"/>
              </a:ext>
            </a:extLst>
          </p:cNvPr>
          <p:cNvGrpSpPr/>
          <p:nvPr/>
        </p:nvGrpSpPr>
        <p:grpSpPr>
          <a:xfrm>
            <a:off x="9901194" y="87807"/>
            <a:ext cx="1896306" cy="392992"/>
            <a:chOff x="8923071" y="87808"/>
            <a:chExt cx="3062320" cy="705516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0F1C1649-3EB9-7BF3-156E-46AB18D7FBFB}"/>
                </a:ext>
              </a:extLst>
            </p:cNvPr>
            <p:cNvSpPr txBox="1"/>
            <p:nvPr/>
          </p:nvSpPr>
          <p:spPr>
            <a:xfrm>
              <a:off x="8923071" y="461804"/>
              <a:ext cx="3062320" cy="3315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6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浙江大学人工智能学院</a:t>
              </a:r>
              <a:r>
                <a:rPr lang="zh-CN" altLang="en-US" sz="600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 </a:t>
              </a:r>
              <a:r>
                <a:rPr lang="en-US" altLang="zh-CN" sz="600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| </a:t>
              </a:r>
              <a:r>
                <a:rPr lang="en-US" altLang="zh-CN" sz="6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InLab </a:t>
              </a:r>
              <a:r>
                <a:rPr lang="zh-CN" altLang="en-US" sz="6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尤伟涛小组</a:t>
              </a:r>
              <a:r>
                <a:rPr lang="en-US" altLang="zh-CN" sz="6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 </a:t>
              </a:r>
              <a:endParaRPr lang="zh-CN" altLang="en-US" sz="600" b="1" dirty="0">
                <a:latin typeface="新宋体" panose="02010609030101010101" pitchFamily="49" charset="-122"/>
                <a:ea typeface="新宋体" panose="02010609030101010101" pitchFamily="49" charset="-122"/>
              </a:endParaRPr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779C1B7F-6193-A014-8E65-B7E087611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11396" y="87808"/>
              <a:ext cx="2794214" cy="373994"/>
            </a:xfrm>
            <a:prstGeom prst="rect">
              <a:avLst/>
            </a:prstGeom>
          </p:spPr>
        </p:pic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EC8B6D6A-B2C0-E4F9-03E6-D402A1DCCE66}"/>
              </a:ext>
            </a:extLst>
          </p:cNvPr>
          <p:cNvSpPr txBox="1"/>
          <p:nvPr/>
        </p:nvSpPr>
        <p:spPr>
          <a:xfrm>
            <a:off x="844850" y="722999"/>
            <a:ext cx="756268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dirty="0">
                <a:latin typeface="汉仪旗黑 Lenovo 60S" panose="00000500000000000000" pitchFamily="2" charset="-122"/>
                <a:ea typeface="汉仪旗黑 Lenovo 60S" panose="00000500000000000000" pitchFamily="2" charset="-122"/>
              </a:rPr>
              <a:t>关于我们</a:t>
            </a:r>
            <a:endParaRPr lang="en-US" altLang="zh-CN" sz="6600" dirty="0">
              <a:latin typeface="汉仪旗黑 Lenovo 60S" panose="00000500000000000000" pitchFamily="2" charset="-122"/>
              <a:ea typeface="汉仪旗黑 Lenovo 60S" panose="00000500000000000000" pitchFamily="2" charset="-122"/>
            </a:endParaRPr>
          </a:p>
          <a:p>
            <a:r>
              <a:rPr lang="en-US" altLang="zh-CN" sz="6600" dirty="0">
                <a:latin typeface="Berlin Sans FB Demi" panose="020E0802020502020306" pitchFamily="34" charset="0"/>
              </a:rPr>
              <a:t>ABOUT US</a:t>
            </a:r>
            <a:endParaRPr lang="zh-CN" altLang="en-US" sz="6600" dirty="0">
              <a:latin typeface="Berlin Sans FB Demi" panose="020E0802020502020306" pitchFamily="34" charset="0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9CC6EF83-48E5-490D-B53D-9389A0490887}"/>
              </a:ext>
            </a:extLst>
          </p:cNvPr>
          <p:cNvCxnSpPr>
            <a:cxnSpLocks/>
          </p:cNvCxnSpPr>
          <p:nvPr/>
        </p:nvCxnSpPr>
        <p:spPr>
          <a:xfrm>
            <a:off x="5597817" y="1602692"/>
            <a:ext cx="6594183" cy="0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椭圆 11">
            <a:extLst>
              <a:ext uri="{FF2B5EF4-FFF2-40B4-BE49-F238E27FC236}">
                <a16:creationId xmlns:a16="http://schemas.microsoft.com/office/drawing/2014/main" id="{DD768DF8-5815-1B83-C77F-CB6258CA14C4}"/>
              </a:ext>
            </a:extLst>
          </p:cNvPr>
          <p:cNvSpPr/>
          <p:nvPr/>
        </p:nvSpPr>
        <p:spPr>
          <a:xfrm>
            <a:off x="5522410" y="1548475"/>
            <a:ext cx="108434" cy="10843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F8300E95-4C4B-0E88-5557-0217830B5684}"/>
              </a:ext>
            </a:extLst>
          </p:cNvPr>
          <p:cNvSpPr/>
          <p:nvPr/>
        </p:nvSpPr>
        <p:spPr>
          <a:xfrm>
            <a:off x="5310743" y="3131931"/>
            <a:ext cx="1745377" cy="1745377"/>
          </a:xfrm>
          <a:prstGeom prst="ellipse">
            <a:avLst/>
          </a:prstGeom>
          <a:pattFill prst="dashHorz">
            <a:fgClr>
              <a:schemeClr val="tx2">
                <a:lumMod val="25000"/>
                <a:lumOff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66096812-6007-E2BB-07FD-E3B7309723D9}"/>
              </a:ext>
            </a:extLst>
          </p:cNvPr>
          <p:cNvSpPr/>
          <p:nvPr/>
        </p:nvSpPr>
        <p:spPr>
          <a:xfrm>
            <a:off x="8397690" y="4698649"/>
            <a:ext cx="1745377" cy="1745377"/>
          </a:xfrm>
          <a:prstGeom prst="ellipse">
            <a:avLst/>
          </a:prstGeom>
          <a:pattFill prst="dashHorz">
            <a:fgClr>
              <a:schemeClr val="tx2">
                <a:lumMod val="25000"/>
                <a:lumOff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88E1346-233D-ECEB-6A02-9A229CC50F1F}"/>
              </a:ext>
            </a:extLst>
          </p:cNvPr>
          <p:cNvSpPr txBox="1"/>
          <p:nvPr/>
        </p:nvSpPr>
        <p:spPr>
          <a:xfrm>
            <a:off x="2895601" y="3213556"/>
            <a:ext cx="1730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王子懿 </a:t>
            </a:r>
            <a:r>
              <a:rPr lang="en-US" altLang="zh-CN" sz="14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&amp; </a:t>
            </a:r>
            <a:r>
              <a:rPr lang="zh-CN" altLang="en-US" sz="14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卢峰杰</a:t>
            </a:r>
            <a:endParaRPr lang="en-US" altLang="zh-CN" sz="1400" dirty="0">
              <a:latin typeface="Berlin Sans FB" panose="020E0602020502020306" pitchFamily="34" charset="0"/>
              <a:ea typeface="汉仪旗黑 Lenovo 60S" panose="00000500000000000000" pitchFamily="2" charset="-122"/>
            </a:endParaRPr>
          </a:p>
          <a:p>
            <a:r>
              <a:rPr lang="zh-CN" altLang="en-US" sz="1400" dirty="0">
                <a:latin typeface="+mj-ea"/>
                <a:ea typeface="+mj-ea"/>
              </a:rPr>
              <a:t>所属于尤伟涛小组</a:t>
            </a:r>
            <a:endParaRPr lang="en-US" altLang="zh-CN" sz="1400" dirty="0">
              <a:latin typeface="+mj-ea"/>
              <a:ea typeface="+mj-ea"/>
            </a:endParaRP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740975BA-812A-59A1-21D0-06A3EFFDB4A6}"/>
              </a:ext>
            </a:extLst>
          </p:cNvPr>
          <p:cNvCxnSpPr>
            <a:cxnSpLocks/>
          </p:cNvCxnSpPr>
          <p:nvPr/>
        </p:nvCxnSpPr>
        <p:spPr>
          <a:xfrm flipV="1">
            <a:off x="4807250" y="3204386"/>
            <a:ext cx="0" cy="3500067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3E78D829-1ACF-84FF-2506-F99DE4530D4C}"/>
              </a:ext>
            </a:extLst>
          </p:cNvPr>
          <p:cNvSpPr txBox="1"/>
          <p:nvPr/>
        </p:nvSpPr>
        <p:spPr>
          <a:xfrm>
            <a:off x="7192120" y="3230529"/>
            <a:ext cx="25831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Ziyi Wang | </a:t>
            </a:r>
            <a:r>
              <a:rPr lang="zh-CN" altLang="en-US" sz="20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王子懿</a:t>
            </a:r>
            <a:endParaRPr lang="en-US" altLang="zh-CN" sz="2000" dirty="0">
              <a:latin typeface="Berlin Sans FB" panose="020E0602020502020306" pitchFamily="34" charset="0"/>
              <a:ea typeface="汉仪旗黑 Lenovo 60S" panose="00000500000000000000" pitchFamily="2" charset="-122"/>
            </a:endParaRPr>
          </a:p>
          <a:p>
            <a:r>
              <a:rPr lang="en-US" altLang="zh-CN" sz="1400" dirty="0">
                <a:latin typeface="+mj-ea"/>
                <a:ea typeface="+mj-ea"/>
              </a:rPr>
              <a:t>/ </a:t>
            </a:r>
            <a:r>
              <a:rPr lang="zh-CN" altLang="en-US" sz="1400" dirty="0">
                <a:latin typeface="+mj-ea"/>
                <a:ea typeface="+mj-ea"/>
              </a:rPr>
              <a:t>设计 </a:t>
            </a:r>
            <a:r>
              <a:rPr lang="en-US" altLang="zh-CN" sz="1400" dirty="0">
                <a:latin typeface="+mj-ea"/>
                <a:ea typeface="+mj-ea"/>
              </a:rPr>
              <a:t>&amp; </a:t>
            </a:r>
            <a:r>
              <a:rPr lang="zh-CN" altLang="en-US" sz="1400" dirty="0">
                <a:latin typeface="+mj-ea"/>
                <a:ea typeface="+mj-ea"/>
              </a:rPr>
              <a:t>人因交互</a:t>
            </a:r>
            <a:endParaRPr lang="en-US" altLang="zh-CN" sz="1400" dirty="0">
              <a:latin typeface="+mj-ea"/>
              <a:ea typeface="+mj-ea"/>
            </a:endParaRPr>
          </a:p>
          <a:p>
            <a:r>
              <a:rPr lang="zh-CN" altLang="en-US" sz="1400" dirty="0">
                <a:latin typeface="+mj-ea"/>
                <a:ea typeface="+mj-ea"/>
              </a:rPr>
              <a:t>从业七年还在探索</a:t>
            </a:r>
            <a:r>
              <a:rPr lang="en-US" altLang="zh-CN" sz="1400" dirty="0">
                <a:latin typeface="+mj-ea"/>
                <a:ea typeface="+mj-ea"/>
              </a:rPr>
              <a:t>HCI</a:t>
            </a:r>
            <a:r>
              <a:rPr lang="zh-CN" altLang="en-US" sz="1400" dirty="0">
                <a:latin typeface="+mj-ea"/>
                <a:ea typeface="+mj-ea"/>
              </a:rPr>
              <a:t>边界</a:t>
            </a:r>
            <a:endParaRPr lang="en-US" altLang="zh-CN" sz="1400" dirty="0">
              <a:latin typeface="+mj-ea"/>
              <a:ea typeface="+mj-ea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51A0116-5AF9-9218-C8A5-BF90FD165F0D}"/>
              </a:ext>
            </a:extLst>
          </p:cNvPr>
          <p:cNvSpPr txBox="1"/>
          <p:nvPr/>
        </p:nvSpPr>
        <p:spPr>
          <a:xfrm>
            <a:off x="5814538" y="5514429"/>
            <a:ext cx="25831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000" dirty="0" err="1">
                <a:latin typeface="Berlin Sans FB" panose="020E0602020502020306" pitchFamily="34" charset="0"/>
                <a:ea typeface="汉仪旗黑 Lenovo 60S" panose="00000500000000000000" pitchFamily="2" charset="-122"/>
              </a:rPr>
              <a:t>Fengjie</a:t>
            </a:r>
            <a:r>
              <a:rPr lang="en-US" altLang="zh-CN" sz="20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 Lu | </a:t>
            </a:r>
            <a:r>
              <a:rPr lang="zh-CN" altLang="en-US" sz="20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卢峰杰</a:t>
            </a:r>
            <a:endParaRPr lang="en-US" altLang="zh-CN" sz="2000" dirty="0">
              <a:latin typeface="Berlin Sans FB" panose="020E0602020502020306" pitchFamily="34" charset="0"/>
              <a:ea typeface="汉仪旗黑 Lenovo 60S" panose="00000500000000000000" pitchFamily="2" charset="-122"/>
            </a:endParaRPr>
          </a:p>
          <a:p>
            <a:pPr algn="r"/>
            <a:r>
              <a:rPr lang="en-US" altLang="zh-CN" sz="1400" dirty="0">
                <a:latin typeface="+mj-ea"/>
                <a:ea typeface="+mj-ea"/>
              </a:rPr>
              <a:t>/ </a:t>
            </a:r>
            <a:r>
              <a:rPr lang="zh-CN" altLang="en-US" sz="1400" dirty="0">
                <a:latin typeface="+mj-ea"/>
                <a:ea typeface="+mj-ea"/>
              </a:rPr>
              <a:t>算法工程</a:t>
            </a:r>
            <a:endParaRPr lang="en-US" altLang="zh-CN" sz="1400" dirty="0">
              <a:latin typeface="+mj-ea"/>
              <a:ea typeface="+mj-ea"/>
            </a:endParaRPr>
          </a:p>
          <a:p>
            <a:pPr algn="r"/>
            <a:r>
              <a:rPr lang="zh-CN" altLang="en-US" sz="1400" dirty="0">
                <a:latin typeface="+mj-ea"/>
                <a:ea typeface="+mj-ea"/>
              </a:rPr>
              <a:t>企业学术两头抓的</a:t>
            </a:r>
            <a:r>
              <a:rPr lang="en-US" altLang="zh-CN" sz="1400" dirty="0">
                <a:latin typeface="+mj-ea"/>
                <a:ea typeface="+mj-ea"/>
              </a:rPr>
              <a:t>CS</a:t>
            </a:r>
            <a:r>
              <a:rPr lang="zh-CN" altLang="en-US" sz="1400" dirty="0">
                <a:latin typeface="+mj-ea"/>
                <a:ea typeface="+mj-ea"/>
              </a:rPr>
              <a:t>大佬</a:t>
            </a:r>
            <a:endParaRPr lang="en-US" altLang="zh-CN" sz="1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778667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23CB3-28AF-24C4-8D04-DD73FDE7B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B76F4156-F9E6-714A-6AFB-EDAB309543E1}"/>
              </a:ext>
            </a:extLst>
          </p:cNvPr>
          <p:cNvSpPr/>
          <p:nvPr/>
        </p:nvSpPr>
        <p:spPr>
          <a:xfrm>
            <a:off x="7589522" y="2887535"/>
            <a:ext cx="4072366" cy="230970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66C14A7-9A00-F3C2-5C10-FF6816A3050F}"/>
              </a:ext>
            </a:extLst>
          </p:cNvPr>
          <p:cNvGrpSpPr/>
          <p:nvPr/>
        </p:nvGrpSpPr>
        <p:grpSpPr>
          <a:xfrm>
            <a:off x="9901194" y="87807"/>
            <a:ext cx="1896306" cy="392992"/>
            <a:chOff x="8923071" y="87808"/>
            <a:chExt cx="3062320" cy="705516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B406BB0F-3320-DC9A-D55B-C2DF44E07382}"/>
                </a:ext>
              </a:extLst>
            </p:cNvPr>
            <p:cNvSpPr txBox="1"/>
            <p:nvPr/>
          </p:nvSpPr>
          <p:spPr>
            <a:xfrm>
              <a:off x="8923071" y="461804"/>
              <a:ext cx="3062320" cy="3315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6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浙江大学人工智能学院</a:t>
              </a:r>
              <a:r>
                <a:rPr lang="zh-CN" altLang="en-US" sz="600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 </a:t>
              </a:r>
              <a:r>
                <a:rPr lang="en-US" altLang="zh-CN" sz="600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| </a:t>
              </a:r>
              <a:r>
                <a:rPr lang="en-US" altLang="zh-CN" sz="6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InLab </a:t>
              </a:r>
              <a:r>
                <a:rPr lang="zh-CN" altLang="en-US" sz="6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尤伟涛小组</a:t>
              </a:r>
              <a:r>
                <a:rPr lang="en-US" altLang="zh-CN" sz="6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 </a:t>
              </a:r>
              <a:endParaRPr lang="zh-CN" altLang="en-US" sz="600" b="1" dirty="0">
                <a:latin typeface="新宋体" panose="02010609030101010101" pitchFamily="49" charset="-122"/>
                <a:ea typeface="新宋体" panose="02010609030101010101" pitchFamily="49" charset="-122"/>
              </a:endParaRPr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D95D5086-DB00-6E29-C597-EDBD6ED2B6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11396" y="87808"/>
              <a:ext cx="2794214" cy="373994"/>
            </a:xfrm>
            <a:prstGeom prst="rect">
              <a:avLst/>
            </a:prstGeom>
          </p:spPr>
        </p:pic>
      </p:grp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C6A60C79-A0E1-D3AA-AA81-25C3B75FAA1C}"/>
              </a:ext>
            </a:extLst>
          </p:cNvPr>
          <p:cNvCxnSpPr>
            <a:cxnSpLocks/>
          </p:cNvCxnSpPr>
          <p:nvPr/>
        </p:nvCxnSpPr>
        <p:spPr>
          <a:xfrm flipV="1">
            <a:off x="844850" y="6390640"/>
            <a:ext cx="0" cy="480799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椭圆 6">
            <a:extLst>
              <a:ext uri="{FF2B5EF4-FFF2-40B4-BE49-F238E27FC236}">
                <a16:creationId xmlns:a16="http://schemas.microsoft.com/office/drawing/2014/main" id="{FB11C87A-859D-D6BD-85AB-1780C4B5FB65}"/>
              </a:ext>
            </a:extLst>
          </p:cNvPr>
          <p:cNvSpPr/>
          <p:nvPr/>
        </p:nvSpPr>
        <p:spPr>
          <a:xfrm>
            <a:off x="752517" y="6298307"/>
            <a:ext cx="184666" cy="18466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76CC34A-5D86-1939-4629-AEDAEA2DAF26}"/>
              </a:ext>
            </a:extLst>
          </p:cNvPr>
          <p:cNvSpPr txBox="1"/>
          <p:nvPr/>
        </p:nvSpPr>
        <p:spPr>
          <a:xfrm>
            <a:off x="6446335" y="1746195"/>
            <a:ext cx="389479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6600" dirty="0">
                <a:latin typeface="汉仪旗黑 Lenovo 60S" panose="00000500000000000000" pitchFamily="2" charset="-122"/>
                <a:ea typeface="汉仪旗黑 Lenovo 60S" panose="00000500000000000000" pitchFamily="2" charset="-122"/>
              </a:rPr>
              <a:t>设计目标</a:t>
            </a:r>
            <a:endParaRPr lang="en-US" altLang="zh-CN" sz="6600" dirty="0">
              <a:latin typeface="汉仪旗黑 Lenovo 60S" panose="00000500000000000000" pitchFamily="2" charset="-122"/>
              <a:ea typeface="汉仪旗黑 Lenovo 60S" panose="00000500000000000000" pitchFamily="2" charset="-122"/>
            </a:endParaRPr>
          </a:p>
          <a:p>
            <a:pPr algn="r"/>
            <a:r>
              <a:rPr lang="en-US" altLang="zh-CN" sz="6600" dirty="0">
                <a:latin typeface="Berlin Sans FB Demi" panose="020E0802020502020306" pitchFamily="34" charset="0"/>
              </a:rPr>
              <a:t>Design Goals</a:t>
            </a:r>
            <a:endParaRPr lang="zh-CN" altLang="en-US" sz="6600" dirty="0">
              <a:latin typeface="Berlin Sans FB Demi" panose="020E0802020502020306" pitchFamily="34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E87BDE8-EEB9-D36D-DAF4-EE4E04258E05}"/>
              </a:ext>
            </a:extLst>
          </p:cNvPr>
          <p:cNvCxnSpPr>
            <a:cxnSpLocks/>
          </p:cNvCxnSpPr>
          <p:nvPr/>
        </p:nvCxnSpPr>
        <p:spPr>
          <a:xfrm flipV="1">
            <a:off x="11814310" y="3357933"/>
            <a:ext cx="0" cy="3500067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6FA391BC-5FDA-B6B8-3983-B643D1643993}"/>
              </a:ext>
            </a:extLst>
          </p:cNvPr>
          <p:cNvGrpSpPr/>
          <p:nvPr/>
        </p:nvGrpSpPr>
        <p:grpSpPr>
          <a:xfrm>
            <a:off x="2557799" y="573689"/>
            <a:ext cx="3094880" cy="1556596"/>
            <a:chOff x="882760" y="634649"/>
            <a:chExt cx="3094880" cy="1556596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1FB599C6-DF3C-49FA-5D52-55DA59505F3F}"/>
                </a:ext>
              </a:extLst>
            </p:cNvPr>
            <p:cNvSpPr txBox="1"/>
            <p:nvPr/>
          </p:nvSpPr>
          <p:spPr>
            <a:xfrm>
              <a:off x="882760" y="634649"/>
              <a:ext cx="9003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Berlin Sans FB" panose="020E0602020502020306" pitchFamily="34" charset="0"/>
                  <a:ea typeface="汉仪旗黑 Lenovo 60S" panose="00000500000000000000" pitchFamily="2" charset="-122"/>
                </a:rPr>
                <a:t>Goal 1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09D90C2-FB01-EA55-B3C5-BD93ADAC5124}"/>
                </a:ext>
              </a:extLst>
            </p:cNvPr>
            <p:cNvSpPr txBox="1"/>
            <p:nvPr/>
          </p:nvSpPr>
          <p:spPr>
            <a:xfrm>
              <a:off x="892164" y="1160194"/>
              <a:ext cx="3085476" cy="10310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latin typeface="+mj-ea"/>
                  <a:ea typeface="+mj-ea"/>
                </a:rPr>
                <a:t>/ </a:t>
              </a:r>
              <a:r>
                <a:rPr lang="zh-CN" altLang="en-US" sz="1400" dirty="0">
                  <a:latin typeface="+mj-ea"/>
                  <a:ea typeface="+mj-ea"/>
                </a:rPr>
                <a:t>设计一款什么样的产品</a:t>
              </a:r>
              <a:endParaRPr lang="en-US" altLang="zh-CN" sz="1400" dirty="0">
                <a:latin typeface="+mj-ea"/>
                <a:ea typeface="+mj-ea"/>
              </a:endParaRPr>
            </a:p>
            <a:p>
              <a:endParaRPr lang="en-US" altLang="zh-CN" sz="1400" dirty="0">
                <a:latin typeface="+mj-ea"/>
                <a:ea typeface="+mj-ea"/>
              </a:endParaRPr>
            </a:p>
            <a:p>
              <a:r>
                <a:rPr lang="zh-CN" altLang="en-US" sz="1100" dirty="0">
                  <a:latin typeface="+mj-ea"/>
                  <a:ea typeface="+mj-ea"/>
                </a:rPr>
                <a:t>可以详细描述一下，扩展一下这里的内容。可以详细描述一下，扩展一下这里的内容。可以详细描述一下，扩展一下这里的内容。</a:t>
              </a:r>
              <a:endParaRPr lang="en-US" altLang="zh-CN" sz="1100" dirty="0">
                <a:latin typeface="+mj-ea"/>
                <a:ea typeface="+mj-ea"/>
              </a:endParaRPr>
            </a:p>
          </p:txBody>
        </p: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7246CDBC-F30A-0EDE-CA2D-EB0E023254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6610" y="1034759"/>
              <a:ext cx="729950" cy="0"/>
            </a:xfrm>
            <a:prstGeom prst="line">
              <a:avLst/>
            </a:prstGeom>
            <a:ln w="31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E128FA02-9B11-98D4-4890-582F97CBBA59}"/>
              </a:ext>
            </a:extLst>
          </p:cNvPr>
          <p:cNvGrpSpPr/>
          <p:nvPr/>
        </p:nvGrpSpPr>
        <p:grpSpPr>
          <a:xfrm>
            <a:off x="2616400" y="2564502"/>
            <a:ext cx="3094880" cy="1556596"/>
            <a:chOff x="3935462" y="2678841"/>
            <a:chExt cx="3094880" cy="1556596"/>
          </a:xfrm>
        </p:grpSpPr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E4116866-E41B-7723-6EBA-4537E7C6535A}"/>
                </a:ext>
              </a:extLst>
            </p:cNvPr>
            <p:cNvSpPr txBox="1"/>
            <p:nvPr/>
          </p:nvSpPr>
          <p:spPr>
            <a:xfrm>
              <a:off x="3935462" y="2678841"/>
              <a:ext cx="9003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Berlin Sans FB" panose="020E0602020502020306" pitchFamily="34" charset="0"/>
                  <a:ea typeface="汉仪旗黑 Lenovo 60S" panose="00000500000000000000" pitchFamily="2" charset="-122"/>
                </a:rPr>
                <a:t>Goal 2</a:t>
              </a: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62DD4468-7747-D9A0-B638-B86B77CDEBAE}"/>
                </a:ext>
              </a:extLst>
            </p:cNvPr>
            <p:cNvSpPr txBox="1"/>
            <p:nvPr/>
          </p:nvSpPr>
          <p:spPr>
            <a:xfrm>
              <a:off x="3944866" y="3204386"/>
              <a:ext cx="3085476" cy="10310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latin typeface="+mj-ea"/>
                  <a:ea typeface="+mj-ea"/>
                </a:rPr>
                <a:t>/ </a:t>
              </a:r>
              <a:r>
                <a:rPr lang="zh-CN" altLang="en-US" sz="1400" dirty="0">
                  <a:latin typeface="+mj-ea"/>
                  <a:ea typeface="+mj-ea"/>
                </a:rPr>
                <a:t>解决什么问题</a:t>
              </a:r>
              <a:endParaRPr lang="en-US" altLang="zh-CN" sz="1400" dirty="0">
                <a:latin typeface="+mj-ea"/>
                <a:ea typeface="+mj-ea"/>
              </a:endParaRPr>
            </a:p>
            <a:p>
              <a:endParaRPr lang="en-US" altLang="zh-CN" sz="1400" dirty="0">
                <a:latin typeface="+mj-ea"/>
                <a:ea typeface="+mj-ea"/>
              </a:endParaRPr>
            </a:p>
            <a:p>
              <a:r>
                <a:rPr lang="zh-CN" altLang="en-US" sz="1100" dirty="0">
                  <a:latin typeface="+mj-ea"/>
                  <a:ea typeface="+mj-ea"/>
                </a:rPr>
                <a:t>可以详细描述一下，扩展一下这里的内容。可以详细描述一下，扩展一下这里的内容。可以详细描述一下，扩展一下这里的内容。</a:t>
              </a:r>
              <a:endParaRPr lang="en-US" altLang="zh-CN" sz="1100" dirty="0">
                <a:latin typeface="+mj-ea"/>
                <a:ea typeface="+mj-ea"/>
              </a:endParaRPr>
            </a:p>
          </p:txBody>
        </p: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632FA404-CEA4-2E2D-7D5F-128463A794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09312" y="3078951"/>
              <a:ext cx="729950" cy="0"/>
            </a:xfrm>
            <a:prstGeom prst="line">
              <a:avLst/>
            </a:prstGeom>
            <a:ln w="31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2325DE73-4F33-62F6-47E6-F71FF83D8419}"/>
              </a:ext>
            </a:extLst>
          </p:cNvPr>
          <p:cNvGrpSpPr/>
          <p:nvPr/>
        </p:nvGrpSpPr>
        <p:grpSpPr>
          <a:xfrm>
            <a:off x="2625804" y="4555316"/>
            <a:ext cx="3094880" cy="1556596"/>
            <a:chOff x="882760" y="4616276"/>
            <a:chExt cx="3094880" cy="1556596"/>
          </a:xfrm>
        </p:grpSpPr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38DB0ED8-BFF2-61D9-1562-AD763C3044A4}"/>
                </a:ext>
              </a:extLst>
            </p:cNvPr>
            <p:cNvSpPr txBox="1"/>
            <p:nvPr/>
          </p:nvSpPr>
          <p:spPr>
            <a:xfrm>
              <a:off x="882760" y="4616276"/>
              <a:ext cx="9003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Berlin Sans FB" panose="020E0602020502020306" pitchFamily="34" charset="0"/>
                  <a:ea typeface="汉仪旗黑 Lenovo 60S" panose="00000500000000000000" pitchFamily="2" charset="-122"/>
                </a:rPr>
                <a:t>Goal 3</a:t>
              </a: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4A54326F-721A-0DAD-2582-4CBD5D0D5927}"/>
                </a:ext>
              </a:extLst>
            </p:cNvPr>
            <p:cNvSpPr txBox="1"/>
            <p:nvPr/>
          </p:nvSpPr>
          <p:spPr>
            <a:xfrm>
              <a:off x="892164" y="5141821"/>
              <a:ext cx="3085476" cy="10310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latin typeface="+mj-ea"/>
                  <a:ea typeface="+mj-ea"/>
                </a:rPr>
                <a:t>/ </a:t>
              </a:r>
              <a:r>
                <a:rPr lang="zh-CN" altLang="en-US" sz="1400" dirty="0">
                  <a:latin typeface="+mj-ea"/>
                  <a:ea typeface="+mj-ea"/>
                </a:rPr>
                <a:t>达成什么效果</a:t>
              </a:r>
              <a:endParaRPr lang="en-US" altLang="zh-CN" sz="1400" dirty="0">
                <a:latin typeface="+mj-ea"/>
                <a:ea typeface="+mj-ea"/>
              </a:endParaRPr>
            </a:p>
            <a:p>
              <a:endParaRPr lang="en-US" altLang="zh-CN" sz="1400" dirty="0">
                <a:latin typeface="+mj-ea"/>
                <a:ea typeface="+mj-ea"/>
              </a:endParaRPr>
            </a:p>
            <a:p>
              <a:r>
                <a:rPr lang="zh-CN" altLang="en-US" sz="1100" dirty="0">
                  <a:latin typeface="+mj-ea"/>
                  <a:ea typeface="+mj-ea"/>
                </a:rPr>
                <a:t>可以详细描述一下，扩展一下这里的内容。可以详细描述一下，扩展一下这里的内容。可以详细描述一下，扩展一下这里的内容。</a:t>
              </a:r>
              <a:endParaRPr lang="en-US" altLang="zh-CN" sz="1100" dirty="0">
                <a:latin typeface="+mj-ea"/>
                <a:ea typeface="+mj-ea"/>
              </a:endParaRPr>
            </a:p>
          </p:txBody>
        </p: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CE17B376-CE5D-8536-9730-38A0742129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6610" y="5016386"/>
              <a:ext cx="729950" cy="0"/>
            </a:xfrm>
            <a:prstGeom prst="line">
              <a:avLst/>
            </a:prstGeom>
            <a:ln w="31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矩形 33">
            <a:extLst>
              <a:ext uri="{FF2B5EF4-FFF2-40B4-BE49-F238E27FC236}">
                <a16:creationId xmlns:a16="http://schemas.microsoft.com/office/drawing/2014/main" id="{6730FB8F-B764-87E4-5588-1D7A1248CBA5}"/>
              </a:ext>
            </a:extLst>
          </p:cNvPr>
          <p:cNvSpPr/>
          <p:nvPr/>
        </p:nvSpPr>
        <p:spPr>
          <a:xfrm>
            <a:off x="1" y="2260406"/>
            <a:ext cx="1066800" cy="230970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1DC0EDA6-EB2E-2B8D-09EA-27796428E97F}"/>
              </a:ext>
            </a:extLst>
          </p:cNvPr>
          <p:cNvCxnSpPr>
            <a:cxnSpLocks/>
          </p:cNvCxnSpPr>
          <p:nvPr/>
        </p:nvCxnSpPr>
        <p:spPr>
          <a:xfrm>
            <a:off x="261756" y="2618295"/>
            <a:ext cx="1028564" cy="0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椭圆 37">
            <a:extLst>
              <a:ext uri="{FF2B5EF4-FFF2-40B4-BE49-F238E27FC236}">
                <a16:creationId xmlns:a16="http://schemas.microsoft.com/office/drawing/2014/main" id="{7C813296-06C6-2876-F39D-749930F20618}"/>
              </a:ext>
            </a:extLst>
          </p:cNvPr>
          <p:cNvSpPr/>
          <p:nvPr/>
        </p:nvSpPr>
        <p:spPr>
          <a:xfrm>
            <a:off x="736416" y="2564078"/>
            <a:ext cx="108434" cy="10843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E2D2EBC5-5EB5-1789-C7F0-D8631B4442CA}"/>
              </a:ext>
            </a:extLst>
          </p:cNvPr>
          <p:cNvSpPr/>
          <p:nvPr/>
        </p:nvSpPr>
        <p:spPr>
          <a:xfrm>
            <a:off x="127450" y="4306518"/>
            <a:ext cx="108434" cy="10843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1385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8655D-79FA-3743-07A6-AE810C2D3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73761571-CE1A-4FCD-DE6D-1C3B85596B46}"/>
              </a:ext>
            </a:extLst>
          </p:cNvPr>
          <p:cNvGrpSpPr/>
          <p:nvPr/>
        </p:nvGrpSpPr>
        <p:grpSpPr>
          <a:xfrm>
            <a:off x="9901194" y="87807"/>
            <a:ext cx="1896306" cy="392992"/>
            <a:chOff x="8923071" y="87808"/>
            <a:chExt cx="3062320" cy="705516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DEA15840-CA77-458B-DAA7-2D038E969FA2}"/>
                </a:ext>
              </a:extLst>
            </p:cNvPr>
            <p:cNvSpPr txBox="1"/>
            <p:nvPr/>
          </p:nvSpPr>
          <p:spPr>
            <a:xfrm>
              <a:off x="8923071" y="461804"/>
              <a:ext cx="3062320" cy="3315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6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浙江大学人工智能学院</a:t>
              </a:r>
              <a:r>
                <a:rPr lang="zh-CN" altLang="en-US" sz="600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 </a:t>
              </a:r>
              <a:r>
                <a:rPr lang="en-US" altLang="zh-CN" sz="600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| </a:t>
              </a:r>
              <a:r>
                <a:rPr lang="en-US" altLang="zh-CN" sz="6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InLab </a:t>
              </a:r>
              <a:r>
                <a:rPr lang="zh-CN" altLang="en-US" sz="6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尤伟涛小组</a:t>
              </a:r>
              <a:r>
                <a:rPr lang="en-US" altLang="zh-CN" sz="6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 </a:t>
              </a:r>
              <a:endParaRPr lang="zh-CN" altLang="en-US" sz="600" b="1" dirty="0">
                <a:latin typeface="新宋体" panose="02010609030101010101" pitchFamily="49" charset="-122"/>
                <a:ea typeface="新宋体" panose="02010609030101010101" pitchFamily="49" charset="-122"/>
              </a:endParaRPr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51632CFF-DFEE-EC03-8196-159D78F84D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11396" y="87808"/>
              <a:ext cx="2794214" cy="373994"/>
            </a:xfrm>
            <a:prstGeom prst="rect">
              <a:avLst/>
            </a:prstGeom>
          </p:spPr>
        </p:pic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16DC5234-D7A0-B3F1-F864-91C739DAF5B5}"/>
              </a:ext>
            </a:extLst>
          </p:cNvPr>
          <p:cNvSpPr/>
          <p:nvPr/>
        </p:nvSpPr>
        <p:spPr>
          <a:xfrm>
            <a:off x="769622" y="425450"/>
            <a:ext cx="6012178" cy="494037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744C4D7-8634-3E5E-BB95-A62CF422FBE5}"/>
              </a:ext>
            </a:extLst>
          </p:cNvPr>
          <p:cNvSpPr txBox="1"/>
          <p:nvPr/>
        </p:nvSpPr>
        <p:spPr>
          <a:xfrm>
            <a:off x="256839" y="4042386"/>
            <a:ext cx="389479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800" dirty="0">
                <a:latin typeface="Berlin Sans FB Demi" panose="020E0802020502020306" pitchFamily="34" charset="0"/>
              </a:rPr>
              <a:t>01</a:t>
            </a:r>
          </a:p>
          <a:p>
            <a:r>
              <a:rPr lang="zh-CN" altLang="en-US" sz="2800" dirty="0">
                <a:latin typeface="汉仪旗黑 Lenovo 60S" panose="00000500000000000000" pitchFamily="2" charset="-122"/>
                <a:ea typeface="汉仪旗黑 Lenovo 60S" panose="00000500000000000000" pitchFamily="2" charset="-122"/>
              </a:rPr>
              <a:t>展示内容</a:t>
            </a:r>
            <a:endParaRPr lang="en-US" altLang="zh-CN" sz="2800" dirty="0">
              <a:latin typeface="汉仪旗黑 Lenovo 60S" panose="00000500000000000000" pitchFamily="2" charset="-122"/>
              <a:ea typeface="汉仪旗黑 Lenovo 60S" panose="00000500000000000000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093A28B-4B7F-6221-CB86-261225818D45}"/>
              </a:ext>
            </a:extLst>
          </p:cNvPr>
          <p:cNvSpPr/>
          <p:nvPr/>
        </p:nvSpPr>
        <p:spPr>
          <a:xfrm>
            <a:off x="4239952" y="1027359"/>
            <a:ext cx="7557548" cy="5405191"/>
          </a:xfrm>
          <a:prstGeom prst="rect">
            <a:avLst/>
          </a:prstGeom>
          <a:pattFill prst="dashHorz">
            <a:fgClr>
              <a:schemeClr val="tx2">
                <a:lumMod val="25000"/>
                <a:lumOff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4E4045DE-EBE5-E78D-60DB-576CCE010F81}"/>
              </a:ext>
            </a:extLst>
          </p:cNvPr>
          <p:cNvCxnSpPr>
            <a:cxnSpLocks/>
          </p:cNvCxnSpPr>
          <p:nvPr/>
        </p:nvCxnSpPr>
        <p:spPr>
          <a:xfrm flipV="1">
            <a:off x="844850" y="0"/>
            <a:ext cx="0" cy="480799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椭圆 11">
            <a:extLst>
              <a:ext uri="{FF2B5EF4-FFF2-40B4-BE49-F238E27FC236}">
                <a16:creationId xmlns:a16="http://schemas.microsoft.com/office/drawing/2014/main" id="{DC43DCC8-DA90-53ED-CD55-4A4031469108}"/>
              </a:ext>
            </a:extLst>
          </p:cNvPr>
          <p:cNvSpPr/>
          <p:nvPr/>
        </p:nvSpPr>
        <p:spPr>
          <a:xfrm>
            <a:off x="752517" y="388466"/>
            <a:ext cx="184666" cy="18466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C8DB3244-CE34-30A4-25DC-3C372EAFF447}"/>
              </a:ext>
            </a:extLst>
          </p:cNvPr>
          <p:cNvCxnSpPr>
            <a:cxnSpLocks/>
          </p:cNvCxnSpPr>
          <p:nvPr/>
        </p:nvCxnSpPr>
        <p:spPr>
          <a:xfrm flipH="1">
            <a:off x="7305540" y="5905500"/>
            <a:ext cx="4886460" cy="0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0F29B81A-3784-0939-C1B1-090E79B2F732}"/>
              </a:ext>
            </a:extLst>
          </p:cNvPr>
          <p:cNvSpPr txBox="1"/>
          <p:nvPr/>
        </p:nvSpPr>
        <p:spPr>
          <a:xfrm>
            <a:off x="1287461" y="1027359"/>
            <a:ext cx="2636839" cy="330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这是一个有关于如何讲工程类或者设计类项目进行展示的现代化</a:t>
            </a:r>
            <a:r>
              <a:rPr lang="en-US" altLang="zh-CN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PPT</a:t>
            </a:r>
            <a:r>
              <a:rPr lang="zh-CN" altLang="en-US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模板</a:t>
            </a:r>
            <a:endParaRPr lang="en-US" altLang="zh-CN" sz="1100" dirty="0">
              <a:latin typeface="Berlin Sans FB" panose="020E0602020502020306" pitchFamily="34" charset="0"/>
              <a:ea typeface="汉仪旗黑 Lenovo 60S" panose="00000500000000000000" pitchFamily="2" charset="-122"/>
            </a:endParaRPr>
          </a:p>
          <a:p>
            <a:r>
              <a:rPr lang="en-US" altLang="zh-CN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This is how you can showcase your project in a rather Morden way</a:t>
            </a:r>
          </a:p>
          <a:p>
            <a:endParaRPr lang="en-US" altLang="zh-CN" sz="1100" dirty="0">
              <a:latin typeface="Berlin Sans FB" panose="020E0602020502020306" pitchFamily="34" charset="0"/>
              <a:ea typeface="汉仪旗黑 Lenovo 60S" panose="00000500000000000000" pitchFamily="2" charset="-122"/>
            </a:endParaRPr>
          </a:p>
          <a:p>
            <a:r>
              <a:rPr lang="zh-CN" altLang="en-US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这是一个有关于如何讲工程类或者设计类项目进行展示的现代化</a:t>
            </a:r>
            <a:r>
              <a:rPr lang="en-US" altLang="zh-CN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PPT</a:t>
            </a:r>
            <a:r>
              <a:rPr lang="zh-CN" altLang="en-US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模板</a:t>
            </a:r>
            <a:endParaRPr lang="en-US" altLang="zh-CN" sz="1100" dirty="0">
              <a:latin typeface="Berlin Sans FB" panose="020E0602020502020306" pitchFamily="34" charset="0"/>
              <a:ea typeface="汉仪旗黑 Lenovo 60S" panose="00000500000000000000" pitchFamily="2" charset="-122"/>
            </a:endParaRPr>
          </a:p>
          <a:p>
            <a:r>
              <a:rPr lang="en-US" altLang="zh-CN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This is how you can showcase your project in a rather Morden way</a:t>
            </a:r>
            <a:r>
              <a:rPr lang="zh-CN" altLang="en-US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这是一个有关于如何讲工程类或者设计类项目进行展示的现代化</a:t>
            </a:r>
            <a:r>
              <a:rPr lang="en-US" altLang="zh-CN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PPT</a:t>
            </a:r>
            <a:r>
              <a:rPr lang="zh-CN" altLang="en-US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模板</a:t>
            </a:r>
            <a:endParaRPr lang="en-US" altLang="zh-CN" sz="1100" dirty="0">
              <a:latin typeface="Berlin Sans FB" panose="020E0602020502020306" pitchFamily="34" charset="0"/>
              <a:ea typeface="汉仪旗黑 Lenovo 60S" panose="00000500000000000000" pitchFamily="2" charset="-122"/>
            </a:endParaRPr>
          </a:p>
          <a:p>
            <a:r>
              <a:rPr lang="en-US" altLang="zh-CN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This is how you can showcase your project in a rather Morden way</a:t>
            </a:r>
          </a:p>
          <a:p>
            <a:endParaRPr lang="en-US" altLang="zh-CN" sz="1100" dirty="0">
              <a:latin typeface="Berlin Sans FB" panose="020E0602020502020306" pitchFamily="34" charset="0"/>
              <a:ea typeface="汉仪旗黑 Lenovo 60S" panose="00000500000000000000" pitchFamily="2" charset="-122"/>
            </a:endParaRPr>
          </a:p>
          <a:p>
            <a:r>
              <a:rPr lang="zh-CN" altLang="en-US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这是一个有关于如何讲工程类或者设计类项目进行展示的现代化</a:t>
            </a:r>
            <a:r>
              <a:rPr lang="en-US" altLang="zh-CN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PPT</a:t>
            </a:r>
            <a:r>
              <a:rPr lang="zh-CN" altLang="en-US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模板</a:t>
            </a:r>
            <a:endParaRPr lang="en-US" altLang="zh-CN" sz="1100" dirty="0">
              <a:latin typeface="Berlin Sans FB" panose="020E0602020502020306" pitchFamily="34" charset="0"/>
              <a:ea typeface="汉仪旗黑 Lenovo 60S" panose="00000500000000000000" pitchFamily="2" charset="-122"/>
            </a:endParaRPr>
          </a:p>
          <a:p>
            <a:r>
              <a:rPr lang="en-US" altLang="zh-CN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This is how you can showcase your project in a rather Morden way</a:t>
            </a:r>
          </a:p>
          <a:p>
            <a:endParaRPr lang="en-US" altLang="zh-CN" sz="1100" dirty="0">
              <a:latin typeface="Berlin Sans FB" panose="020E0602020502020306" pitchFamily="34" charset="0"/>
              <a:ea typeface="汉仪旗黑 Lenovo 60S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6201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07770-A985-E288-AFE2-56796F70F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7AD5EF50-6D6C-3DC6-3205-1451A2C51154}"/>
              </a:ext>
            </a:extLst>
          </p:cNvPr>
          <p:cNvGrpSpPr/>
          <p:nvPr/>
        </p:nvGrpSpPr>
        <p:grpSpPr>
          <a:xfrm>
            <a:off x="9901194" y="87807"/>
            <a:ext cx="1896306" cy="392992"/>
            <a:chOff x="8923071" y="87808"/>
            <a:chExt cx="3062320" cy="705516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B4A6E8F0-3F00-51E5-BC7F-D6B86BB55026}"/>
                </a:ext>
              </a:extLst>
            </p:cNvPr>
            <p:cNvSpPr txBox="1"/>
            <p:nvPr/>
          </p:nvSpPr>
          <p:spPr>
            <a:xfrm>
              <a:off x="8923071" y="461804"/>
              <a:ext cx="3062320" cy="3315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6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浙江大学人工智能学院</a:t>
              </a:r>
              <a:r>
                <a:rPr lang="zh-CN" altLang="en-US" sz="600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 </a:t>
              </a:r>
              <a:r>
                <a:rPr lang="en-US" altLang="zh-CN" sz="600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| </a:t>
              </a:r>
              <a:r>
                <a:rPr lang="en-US" altLang="zh-CN" sz="6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InLab </a:t>
              </a:r>
              <a:r>
                <a:rPr lang="zh-CN" altLang="en-US" sz="6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尤伟涛小组</a:t>
              </a:r>
              <a:r>
                <a:rPr lang="en-US" altLang="zh-CN" sz="6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 </a:t>
              </a:r>
              <a:endParaRPr lang="zh-CN" altLang="en-US" sz="600" b="1" dirty="0">
                <a:latin typeface="新宋体" panose="02010609030101010101" pitchFamily="49" charset="-122"/>
                <a:ea typeface="新宋体" panose="02010609030101010101" pitchFamily="49" charset="-122"/>
              </a:endParaRPr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F5219D53-1367-E985-AE58-19C7402306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11396" y="87808"/>
              <a:ext cx="2794214" cy="373994"/>
            </a:xfrm>
            <a:prstGeom prst="rect">
              <a:avLst/>
            </a:prstGeom>
          </p:spPr>
        </p:pic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D9DB4081-0CB0-A8DB-E360-6151C2320D18}"/>
              </a:ext>
            </a:extLst>
          </p:cNvPr>
          <p:cNvSpPr txBox="1"/>
          <p:nvPr/>
        </p:nvSpPr>
        <p:spPr>
          <a:xfrm>
            <a:off x="8127567" y="0"/>
            <a:ext cx="389479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3800" dirty="0">
                <a:latin typeface="Berlin Sans FB Demi" panose="020E0802020502020306" pitchFamily="34" charset="0"/>
              </a:rPr>
              <a:t>02</a:t>
            </a:r>
          </a:p>
          <a:p>
            <a:pPr algn="r"/>
            <a:r>
              <a:rPr lang="zh-CN" altLang="en-US" sz="2800" dirty="0">
                <a:latin typeface="汉仪旗黑 Lenovo 60S" panose="00000500000000000000" pitchFamily="2" charset="-122"/>
                <a:ea typeface="汉仪旗黑 Lenovo 60S" panose="00000500000000000000" pitchFamily="2" charset="-122"/>
              </a:rPr>
              <a:t>展示内容</a:t>
            </a:r>
            <a:endParaRPr lang="en-US" altLang="zh-CN" sz="2800" dirty="0">
              <a:latin typeface="汉仪旗黑 Lenovo 60S" panose="00000500000000000000" pitchFamily="2" charset="-122"/>
              <a:ea typeface="汉仪旗黑 Lenovo 60S" panose="00000500000000000000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356AC43-3589-39C3-9F42-A7DFC48262BF}"/>
              </a:ext>
            </a:extLst>
          </p:cNvPr>
          <p:cNvSpPr/>
          <p:nvPr/>
        </p:nvSpPr>
        <p:spPr>
          <a:xfrm>
            <a:off x="3683000" y="1766335"/>
            <a:ext cx="6334811" cy="494037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0E9A63A-79B7-E71D-6BBD-932570CF6382}"/>
              </a:ext>
            </a:extLst>
          </p:cNvPr>
          <p:cNvSpPr/>
          <p:nvPr/>
        </p:nvSpPr>
        <p:spPr>
          <a:xfrm>
            <a:off x="277059" y="861857"/>
            <a:ext cx="8784392" cy="1252693"/>
          </a:xfrm>
          <a:prstGeom prst="rect">
            <a:avLst/>
          </a:prstGeom>
          <a:pattFill prst="dashHorz">
            <a:fgClr>
              <a:schemeClr val="tx2">
                <a:lumMod val="25000"/>
                <a:lumOff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7E0A295-455C-E13F-2330-632E92A41A5F}"/>
              </a:ext>
            </a:extLst>
          </p:cNvPr>
          <p:cNvCxnSpPr>
            <a:cxnSpLocks/>
          </p:cNvCxnSpPr>
          <p:nvPr/>
        </p:nvCxnSpPr>
        <p:spPr>
          <a:xfrm flipV="1">
            <a:off x="844850" y="0"/>
            <a:ext cx="0" cy="480799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D4BD195E-35BA-FCE5-4165-B4D51B5029F6}"/>
              </a:ext>
            </a:extLst>
          </p:cNvPr>
          <p:cNvSpPr/>
          <p:nvPr/>
        </p:nvSpPr>
        <p:spPr>
          <a:xfrm>
            <a:off x="752517" y="388466"/>
            <a:ext cx="184666" cy="18466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A59DA77-772E-099D-8F36-1B54953A3CA7}"/>
              </a:ext>
            </a:extLst>
          </p:cNvPr>
          <p:cNvSpPr txBox="1"/>
          <p:nvPr/>
        </p:nvSpPr>
        <p:spPr>
          <a:xfrm>
            <a:off x="4862333" y="5480303"/>
            <a:ext cx="485316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这是一个有关于如何讲工程类或者设计类项目进行展示的现代化</a:t>
            </a:r>
            <a:r>
              <a:rPr lang="en-US" altLang="zh-CN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PPT</a:t>
            </a:r>
            <a:r>
              <a:rPr lang="zh-CN" altLang="en-US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模板</a:t>
            </a:r>
            <a:endParaRPr lang="en-US" altLang="zh-CN" sz="1100" dirty="0">
              <a:latin typeface="Berlin Sans FB" panose="020E0602020502020306" pitchFamily="34" charset="0"/>
              <a:ea typeface="汉仪旗黑 Lenovo 60S" panose="00000500000000000000" pitchFamily="2" charset="-122"/>
            </a:endParaRPr>
          </a:p>
          <a:p>
            <a:r>
              <a:rPr lang="en-US" altLang="zh-CN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This is how you can showcase your project in a rather Morden way</a:t>
            </a:r>
          </a:p>
          <a:p>
            <a:endParaRPr lang="en-US" altLang="zh-CN" sz="1100" dirty="0">
              <a:latin typeface="Berlin Sans FB" panose="020E0602020502020306" pitchFamily="34" charset="0"/>
              <a:ea typeface="汉仪旗黑 Lenovo 60S" panose="00000500000000000000" pitchFamily="2" charset="-122"/>
            </a:endParaRPr>
          </a:p>
          <a:p>
            <a:r>
              <a:rPr lang="zh-CN" altLang="en-US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这是一个有关于如何讲工程类或者设计类项目进行展示的现代化</a:t>
            </a:r>
            <a:r>
              <a:rPr lang="en-US" altLang="zh-CN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PPT</a:t>
            </a:r>
            <a:r>
              <a:rPr lang="zh-CN" altLang="en-US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模板</a:t>
            </a:r>
            <a:endParaRPr lang="en-US" altLang="zh-CN" sz="1100" dirty="0">
              <a:latin typeface="Berlin Sans FB" panose="020E0602020502020306" pitchFamily="34" charset="0"/>
              <a:ea typeface="汉仪旗黑 Lenovo 60S" panose="00000500000000000000" pitchFamily="2" charset="-122"/>
            </a:endParaRPr>
          </a:p>
          <a:p>
            <a:r>
              <a:rPr lang="en-US" altLang="zh-CN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This is how you can showcase your project in a rather Morden way</a:t>
            </a:r>
          </a:p>
          <a:p>
            <a:r>
              <a:rPr lang="zh-CN" altLang="en-US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这是一个有关于如何讲工程类或者设计类项目进行展示的现代化</a:t>
            </a:r>
            <a:r>
              <a:rPr lang="en-US" altLang="zh-CN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PPT</a:t>
            </a:r>
            <a:r>
              <a:rPr lang="zh-CN" altLang="en-US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模板</a:t>
            </a:r>
            <a:endParaRPr lang="en-US" altLang="zh-CN" sz="1100" dirty="0">
              <a:latin typeface="Berlin Sans FB" panose="020E0602020502020306" pitchFamily="34" charset="0"/>
              <a:ea typeface="汉仪旗黑 Lenovo 60S" panose="00000500000000000000" pitchFamily="2" charset="-122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E5CA322-DCD1-A169-73B2-A6174867A254}"/>
              </a:ext>
            </a:extLst>
          </p:cNvPr>
          <p:cNvCxnSpPr>
            <a:cxnSpLocks/>
          </p:cNvCxnSpPr>
          <p:nvPr/>
        </p:nvCxnSpPr>
        <p:spPr>
          <a:xfrm>
            <a:off x="1984240" y="5791200"/>
            <a:ext cx="0" cy="1066800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椭圆 15">
            <a:extLst>
              <a:ext uri="{FF2B5EF4-FFF2-40B4-BE49-F238E27FC236}">
                <a16:creationId xmlns:a16="http://schemas.microsoft.com/office/drawing/2014/main" id="{920AB6BA-B49B-5F86-44AF-9E226A6713AA}"/>
              </a:ext>
            </a:extLst>
          </p:cNvPr>
          <p:cNvSpPr/>
          <p:nvPr/>
        </p:nvSpPr>
        <p:spPr>
          <a:xfrm>
            <a:off x="1933047" y="6034301"/>
            <a:ext cx="92333" cy="9233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428CC51-A7C8-B1FD-2F2B-ADD399F44125}"/>
              </a:ext>
            </a:extLst>
          </p:cNvPr>
          <p:cNvSpPr/>
          <p:nvPr/>
        </p:nvSpPr>
        <p:spPr>
          <a:xfrm>
            <a:off x="277059" y="2221082"/>
            <a:ext cx="8784392" cy="3081853"/>
          </a:xfrm>
          <a:prstGeom prst="rect">
            <a:avLst/>
          </a:prstGeom>
          <a:pattFill prst="dashHorz">
            <a:fgClr>
              <a:schemeClr val="tx2">
                <a:lumMod val="25000"/>
                <a:lumOff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2322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E9C54-D803-D2FA-1CDD-7147096F2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DCA91E99-91BC-F162-06FE-D6A16A1BA9E8}"/>
              </a:ext>
            </a:extLst>
          </p:cNvPr>
          <p:cNvGrpSpPr/>
          <p:nvPr/>
        </p:nvGrpSpPr>
        <p:grpSpPr>
          <a:xfrm>
            <a:off x="9901194" y="87807"/>
            <a:ext cx="1896306" cy="392992"/>
            <a:chOff x="8923071" y="87808"/>
            <a:chExt cx="3062320" cy="705516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153000B3-5ECB-2A6B-AA09-1DDA4F6F11A6}"/>
                </a:ext>
              </a:extLst>
            </p:cNvPr>
            <p:cNvSpPr txBox="1"/>
            <p:nvPr/>
          </p:nvSpPr>
          <p:spPr>
            <a:xfrm>
              <a:off x="8923071" y="461804"/>
              <a:ext cx="3062320" cy="3315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6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浙江大学人工智能学院</a:t>
              </a:r>
              <a:r>
                <a:rPr lang="zh-CN" altLang="en-US" sz="600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 </a:t>
              </a:r>
              <a:r>
                <a:rPr lang="en-US" altLang="zh-CN" sz="600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| </a:t>
              </a:r>
              <a:r>
                <a:rPr lang="en-US" altLang="zh-CN" sz="6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InLab </a:t>
              </a:r>
              <a:r>
                <a:rPr lang="zh-CN" altLang="en-US" sz="6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尤伟涛小组</a:t>
              </a:r>
              <a:r>
                <a:rPr lang="en-US" altLang="zh-CN" sz="6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 </a:t>
              </a:r>
              <a:endParaRPr lang="zh-CN" altLang="en-US" sz="600" b="1" dirty="0">
                <a:latin typeface="新宋体" panose="02010609030101010101" pitchFamily="49" charset="-122"/>
                <a:ea typeface="新宋体" panose="02010609030101010101" pitchFamily="49" charset="-122"/>
              </a:endParaRPr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A7EF60EE-F0F6-2470-2079-09E74DD004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11396" y="87808"/>
              <a:ext cx="2794214" cy="373994"/>
            </a:xfrm>
            <a:prstGeom prst="rect">
              <a:avLst/>
            </a:prstGeom>
          </p:spPr>
        </p:pic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9B40CAE0-5023-B049-20B2-01327E1CA2AF}"/>
              </a:ext>
            </a:extLst>
          </p:cNvPr>
          <p:cNvSpPr txBox="1"/>
          <p:nvPr/>
        </p:nvSpPr>
        <p:spPr>
          <a:xfrm>
            <a:off x="9798565" y="4128592"/>
            <a:ext cx="2223791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3800" dirty="0">
                <a:latin typeface="Berlin Sans FB Demi" panose="020E0802020502020306" pitchFamily="34" charset="0"/>
              </a:rPr>
              <a:t>03</a:t>
            </a:r>
          </a:p>
          <a:p>
            <a:pPr algn="r"/>
            <a:r>
              <a:rPr lang="zh-CN" altLang="en-US" sz="2800" dirty="0">
                <a:latin typeface="汉仪旗黑 Lenovo 60S" panose="00000500000000000000" pitchFamily="2" charset="-122"/>
                <a:ea typeface="汉仪旗黑 Lenovo 60S" panose="00000500000000000000" pitchFamily="2" charset="-122"/>
              </a:rPr>
              <a:t>展示内容</a:t>
            </a:r>
            <a:endParaRPr lang="en-US" altLang="zh-CN" sz="2800" dirty="0">
              <a:latin typeface="汉仪旗黑 Lenovo 60S" panose="00000500000000000000" pitchFamily="2" charset="-122"/>
              <a:ea typeface="汉仪旗黑 Lenovo 60S" panose="00000500000000000000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16419FE-C232-9D66-EFAD-517F20CF63EB}"/>
              </a:ext>
            </a:extLst>
          </p:cNvPr>
          <p:cNvSpPr/>
          <p:nvPr/>
        </p:nvSpPr>
        <p:spPr>
          <a:xfrm>
            <a:off x="0" y="0"/>
            <a:ext cx="6229350" cy="6858000"/>
          </a:xfrm>
          <a:prstGeom prst="rect">
            <a:avLst/>
          </a:prstGeom>
          <a:pattFill prst="dashHorz">
            <a:fgClr>
              <a:schemeClr val="tx2">
                <a:lumMod val="25000"/>
                <a:lumOff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9E88BB7-E2F4-4B8F-2A52-53F5C78B0124}"/>
              </a:ext>
            </a:extLst>
          </p:cNvPr>
          <p:cNvSpPr/>
          <p:nvPr/>
        </p:nvSpPr>
        <p:spPr>
          <a:xfrm>
            <a:off x="5880100" y="765028"/>
            <a:ext cx="4235450" cy="376369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A0073F9-F3BE-80D4-7CBE-143F12AB7803}"/>
              </a:ext>
            </a:extLst>
          </p:cNvPr>
          <p:cNvSpPr txBox="1"/>
          <p:nvPr/>
        </p:nvSpPr>
        <p:spPr>
          <a:xfrm>
            <a:off x="6151383" y="1091436"/>
            <a:ext cx="346251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这是一个有关于如何讲工程类或者设计类项目进行展示的现代化</a:t>
            </a:r>
            <a:r>
              <a:rPr lang="en-US" altLang="zh-CN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PPT</a:t>
            </a:r>
            <a:r>
              <a:rPr lang="zh-CN" altLang="en-US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模板</a:t>
            </a:r>
            <a:endParaRPr lang="en-US" altLang="zh-CN" sz="1100" dirty="0">
              <a:latin typeface="Berlin Sans FB" panose="020E0602020502020306" pitchFamily="34" charset="0"/>
              <a:ea typeface="汉仪旗黑 Lenovo 60S" panose="00000500000000000000" pitchFamily="2" charset="-122"/>
            </a:endParaRPr>
          </a:p>
          <a:p>
            <a:r>
              <a:rPr lang="en-US" altLang="zh-CN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This is how you can showcase your project in a rather Morden way</a:t>
            </a:r>
          </a:p>
          <a:p>
            <a:endParaRPr lang="en-US" altLang="zh-CN" sz="1100" dirty="0">
              <a:latin typeface="Berlin Sans FB" panose="020E0602020502020306" pitchFamily="34" charset="0"/>
              <a:ea typeface="汉仪旗黑 Lenovo 60S" panose="00000500000000000000" pitchFamily="2" charset="-122"/>
            </a:endParaRPr>
          </a:p>
          <a:p>
            <a:r>
              <a:rPr lang="zh-CN" altLang="en-US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这是一个有关于如何讲工程类或者设计类项目进行展示的现代化</a:t>
            </a:r>
            <a:r>
              <a:rPr lang="en-US" altLang="zh-CN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PPT</a:t>
            </a:r>
            <a:r>
              <a:rPr lang="zh-CN" altLang="en-US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模板</a:t>
            </a:r>
            <a:endParaRPr lang="en-US" altLang="zh-CN" sz="1100" dirty="0">
              <a:latin typeface="Berlin Sans FB" panose="020E0602020502020306" pitchFamily="34" charset="0"/>
              <a:ea typeface="汉仪旗黑 Lenovo 60S" panose="00000500000000000000" pitchFamily="2" charset="-122"/>
            </a:endParaRPr>
          </a:p>
          <a:p>
            <a:r>
              <a:rPr lang="en-US" altLang="zh-CN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This is how you can showcase your project in a rather Morden way</a:t>
            </a:r>
          </a:p>
          <a:p>
            <a:endParaRPr lang="en-US" altLang="zh-CN" sz="1100" dirty="0">
              <a:latin typeface="Berlin Sans FB" panose="020E0602020502020306" pitchFamily="34" charset="0"/>
              <a:ea typeface="汉仪旗黑 Lenovo 60S" panose="00000500000000000000" pitchFamily="2" charset="-122"/>
            </a:endParaRPr>
          </a:p>
          <a:p>
            <a:r>
              <a:rPr lang="zh-CN" altLang="en-US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这是一个有关于如何讲工程类或者设计类项目进行展示的现代化</a:t>
            </a:r>
            <a:r>
              <a:rPr lang="en-US" altLang="zh-CN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PPT</a:t>
            </a:r>
            <a:r>
              <a:rPr lang="zh-CN" altLang="en-US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模板</a:t>
            </a:r>
            <a:endParaRPr lang="en-US" altLang="zh-CN" sz="1100" dirty="0">
              <a:latin typeface="Berlin Sans FB" panose="020E0602020502020306" pitchFamily="34" charset="0"/>
              <a:ea typeface="汉仪旗黑 Lenovo 60S" panose="00000500000000000000" pitchFamily="2" charset="-122"/>
            </a:endParaRPr>
          </a:p>
          <a:p>
            <a:r>
              <a:rPr lang="en-US" altLang="zh-CN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This is how you can showcase your project in a rather Morden way</a:t>
            </a:r>
          </a:p>
          <a:p>
            <a:endParaRPr lang="en-US" altLang="zh-CN" sz="1100" dirty="0">
              <a:latin typeface="Berlin Sans FB" panose="020E0602020502020306" pitchFamily="34" charset="0"/>
              <a:ea typeface="汉仪旗黑 Lenovo 60S" panose="00000500000000000000" pitchFamily="2" charset="-122"/>
            </a:endParaRPr>
          </a:p>
          <a:p>
            <a:r>
              <a:rPr lang="zh-CN" altLang="en-US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这是一个有关于如何讲工程类或者设计类项目进行展示的现代化</a:t>
            </a:r>
            <a:r>
              <a:rPr lang="en-US" altLang="zh-CN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PPT</a:t>
            </a:r>
            <a:r>
              <a:rPr lang="zh-CN" altLang="en-US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模板</a:t>
            </a:r>
            <a:endParaRPr lang="en-US" altLang="zh-CN" sz="1100" dirty="0">
              <a:latin typeface="Berlin Sans FB" panose="020E0602020502020306" pitchFamily="34" charset="0"/>
              <a:ea typeface="汉仪旗黑 Lenovo 60S" panose="00000500000000000000" pitchFamily="2" charset="-122"/>
            </a:endParaRPr>
          </a:p>
          <a:p>
            <a:r>
              <a:rPr lang="en-US" altLang="zh-CN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This is how you can showcase your project in a rather Morden way</a:t>
            </a:r>
          </a:p>
          <a:p>
            <a:endParaRPr lang="en-US" altLang="zh-CN" sz="1100" dirty="0">
              <a:latin typeface="Berlin Sans FB" panose="020E0602020502020306" pitchFamily="34" charset="0"/>
              <a:ea typeface="汉仪旗黑 Lenovo 60S" panose="00000500000000000000" pitchFamily="2" charset="-122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6B063381-9D49-7BAF-82CC-4CC76AF57F8D}"/>
              </a:ext>
            </a:extLst>
          </p:cNvPr>
          <p:cNvCxnSpPr>
            <a:cxnSpLocks/>
          </p:cNvCxnSpPr>
          <p:nvPr/>
        </p:nvCxnSpPr>
        <p:spPr>
          <a:xfrm flipV="1">
            <a:off x="9613900" y="6446882"/>
            <a:ext cx="0" cy="480799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椭圆 13">
            <a:extLst>
              <a:ext uri="{FF2B5EF4-FFF2-40B4-BE49-F238E27FC236}">
                <a16:creationId xmlns:a16="http://schemas.microsoft.com/office/drawing/2014/main" id="{E74F6D26-28DA-5DB1-8625-128533107943}"/>
              </a:ext>
            </a:extLst>
          </p:cNvPr>
          <p:cNvSpPr/>
          <p:nvPr/>
        </p:nvSpPr>
        <p:spPr>
          <a:xfrm>
            <a:off x="9521567" y="6382866"/>
            <a:ext cx="184666" cy="18466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B7BDE8DC-7F61-E19A-67A7-B25B97211D27}"/>
              </a:ext>
            </a:extLst>
          </p:cNvPr>
          <p:cNvCxnSpPr>
            <a:cxnSpLocks/>
          </p:cNvCxnSpPr>
          <p:nvPr/>
        </p:nvCxnSpPr>
        <p:spPr>
          <a:xfrm flipH="1">
            <a:off x="4644890" y="5454650"/>
            <a:ext cx="4886460" cy="0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4948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C3B6B-B11B-1809-CC09-A6091D0F5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5AF3605-A279-AD0A-B598-DDEDAC4571AE}"/>
              </a:ext>
            </a:extLst>
          </p:cNvPr>
          <p:cNvGrpSpPr/>
          <p:nvPr/>
        </p:nvGrpSpPr>
        <p:grpSpPr>
          <a:xfrm>
            <a:off x="9901194" y="87807"/>
            <a:ext cx="1896306" cy="392992"/>
            <a:chOff x="8923071" y="87808"/>
            <a:chExt cx="3062320" cy="705516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1585645-91E3-970D-162E-08A00455E285}"/>
                </a:ext>
              </a:extLst>
            </p:cNvPr>
            <p:cNvSpPr txBox="1"/>
            <p:nvPr/>
          </p:nvSpPr>
          <p:spPr>
            <a:xfrm>
              <a:off x="8923071" y="461804"/>
              <a:ext cx="3062320" cy="3315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6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浙江大学人工智能学院</a:t>
              </a:r>
              <a:r>
                <a:rPr lang="zh-CN" altLang="en-US" sz="600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 </a:t>
              </a:r>
              <a:r>
                <a:rPr lang="en-US" altLang="zh-CN" sz="600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| </a:t>
              </a:r>
              <a:r>
                <a:rPr lang="en-US" altLang="zh-CN" sz="6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InLab </a:t>
              </a:r>
              <a:r>
                <a:rPr lang="zh-CN" altLang="en-US" sz="6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尤伟涛小组</a:t>
              </a:r>
              <a:r>
                <a:rPr lang="en-US" altLang="zh-CN" sz="6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 </a:t>
              </a:r>
              <a:endParaRPr lang="zh-CN" altLang="en-US" sz="600" b="1" dirty="0">
                <a:latin typeface="新宋体" panose="02010609030101010101" pitchFamily="49" charset="-122"/>
                <a:ea typeface="新宋体" panose="02010609030101010101" pitchFamily="49" charset="-122"/>
              </a:endParaRPr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3DF19357-8A99-CF15-1000-61989CB4E8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11396" y="87808"/>
              <a:ext cx="2794214" cy="373994"/>
            </a:xfrm>
            <a:prstGeom prst="rect">
              <a:avLst/>
            </a:prstGeom>
          </p:spPr>
        </p:pic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93564069-4271-44FC-C64E-9D36989BB09E}"/>
              </a:ext>
            </a:extLst>
          </p:cNvPr>
          <p:cNvSpPr txBox="1"/>
          <p:nvPr/>
        </p:nvSpPr>
        <p:spPr>
          <a:xfrm>
            <a:off x="1162050" y="3601274"/>
            <a:ext cx="2701201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3800" dirty="0">
                <a:latin typeface="Berlin Sans FB Demi" panose="020E0802020502020306" pitchFamily="34" charset="0"/>
              </a:rPr>
              <a:t>04</a:t>
            </a:r>
          </a:p>
          <a:p>
            <a:pPr algn="r"/>
            <a:r>
              <a:rPr lang="zh-CN" altLang="en-US" sz="2800" dirty="0">
                <a:latin typeface="汉仪旗黑 Lenovo 60S" panose="00000500000000000000" pitchFamily="2" charset="-122"/>
                <a:ea typeface="汉仪旗黑 Lenovo 60S" panose="00000500000000000000" pitchFamily="2" charset="-122"/>
              </a:rPr>
              <a:t>展示内容</a:t>
            </a:r>
            <a:endParaRPr lang="en-US" altLang="zh-CN" sz="2800" dirty="0">
              <a:latin typeface="汉仪旗黑 Lenovo 60S" panose="00000500000000000000" pitchFamily="2" charset="-122"/>
              <a:ea typeface="汉仪旗黑 Lenovo 60S" panose="00000500000000000000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9934471-8428-CE19-956D-93B9373103AC}"/>
              </a:ext>
            </a:extLst>
          </p:cNvPr>
          <p:cNvSpPr/>
          <p:nvPr/>
        </p:nvSpPr>
        <p:spPr>
          <a:xfrm>
            <a:off x="315694" y="550649"/>
            <a:ext cx="2952750" cy="2800350"/>
          </a:xfrm>
          <a:prstGeom prst="rect">
            <a:avLst/>
          </a:prstGeom>
          <a:pattFill prst="dashHorz">
            <a:fgClr>
              <a:schemeClr val="tx2">
                <a:lumMod val="25000"/>
                <a:lumOff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57592F-9B83-913E-42E7-5CAC0F8F85C3}"/>
              </a:ext>
            </a:extLst>
          </p:cNvPr>
          <p:cNvSpPr/>
          <p:nvPr/>
        </p:nvSpPr>
        <p:spPr>
          <a:xfrm>
            <a:off x="3547844" y="550649"/>
            <a:ext cx="2952750" cy="2800350"/>
          </a:xfrm>
          <a:prstGeom prst="rect">
            <a:avLst/>
          </a:prstGeom>
          <a:pattFill prst="dashHorz">
            <a:fgClr>
              <a:schemeClr val="tx2">
                <a:lumMod val="25000"/>
                <a:lumOff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4FFA737-16F0-BA5C-AA61-6346C517CF40}"/>
              </a:ext>
            </a:extLst>
          </p:cNvPr>
          <p:cNvSpPr/>
          <p:nvPr/>
        </p:nvSpPr>
        <p:spPr>
          <a:xfrm>
            <a:off x="6779994" y="550649"/>
            <a:ext cx="4357906" cy="2800350"/>
          </a:xfrm>
          <a:prstGeom prst="rect">
            <a:avLst/>
          </a:prstGeom>
          <a:pattFill prst="dashHorz">
            <a:fgClr>
              <a:schemeClr val="tx2">
                <a:lumMod val="25000"/>
                <a:lumOff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412F0B1-5004-ECCC-9E7B-19C66AF07E3F}"/>
              </a:ext>
            </a:extLst>
          </p:cNvPr>
          <p:cNvSpPr/>
          <p:nvPr/>
        </p:nvSpPr>
        <p:spPr>
          <a:xfrm>
            <a:off x="4100294" y="3646702"/>
            <a:ext cx="7037606" cy="255602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EBEE165-F5C2-2F4E-819D-A954B3740A12}"/>
              </a:ext>
            </a:extLst>
          </p:cNvPr>
          <p:cNvSpPr txBox="1"/>
          <p:nvPr/>
        </p:nvSpPr>
        <p:spPr>
          <a:xfrm>
            <a:off x="4299435" y="3710349"/>
            <a:ext cx="6525023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这是一个有关于如何讲工程类或者设计类项目进行展示的现代化</a:t>
            </a:r>
            <a:r>
              <a:rPr lang="en-US" altLang="zh-CN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PPT</a:t>
            </a:r>
            <a:r>
              <a:rPr lang="zh-CN" altLang="en-US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模板</a:t>
            </a:r>
            <a:endParaRPr lang="en-US" altLang="zh-CN" sz="1100" dirty="0">
              <a:latin typeface="Berlin Sans FB" panose="020E0602020502020306" pitchFamily="34" charset="0"/>
              <a:ea typeface="汉仪旗黑 Lenovo 60S" panose="00000500000000000000" pitchFamily="2" charset="-122"/>
            </a:endParaRPr>
          </a:p>
          <a:p>
            <a:r>
              <a:rPr lang="en-US" altLang="zh-CN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This is how you can showcase your project in a rather Morden way</a:t>
            </a:r>
          </a:p>
          <a:p>
            <a:endParaRPr lang="en-US" altLang="zh-CN" sz="1100" dirty="0">
              <a:latin typeface="Berlin Sans FB" panose="020E0602020502020306" pitchFamily="34" charset="0"/>
              <a:ea typeface="汉仪旗黑 Lenovo 60S" panose="00000500000000000000" pitchFamily="2" charset="-122"/>
            </a:endParaRPr>
          </a:p>
          <a:p>
            <a:r>
              <a:rPr lang="zh-CN" altLang="en-US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这是一个有关于如何讲工程类或者设计类项目进行展示的现代化</a:t>
            </a:r>
            <a:r>
              <a:rPr lang="en-US" altLang="zh-CN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PPT</a:t>
            </a:r>
            <a:r>
              <a:rPr lang="zh-CN" altLang="en-US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模板</a:t>
            </a:r>
            <a:endParaRPr lang="en-US" altLang="zh-CN" sz="1100" dirty="0">
              <a:latin typeface="Berlin Sans FB" panose="020E0602020502020306" pitchFamily="34" charset="0"/>
              <a:ea typeface="汉仪旗黑 Lenovo 60S" panose="00000500000000000000" pitchFamily="2" charset="-122"/>
            </a:endParaRPr>
          </a:p>
          <a:p>
            <a:r>
              <a:rPr lang="en-US" altLang="zh-CN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This is how you can showcase your project in a rather Morden way</a:t>
            </a:r>
            <a:r>
              <a:rPr lang="zh-CN" altLang="en-US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这是一个有关于如何讲工程类或者设计类项目进行展示的现代化</a:t>
            </a:r>
            <a:r>
              <a:rPr lang="en-US" altLang="zh-CN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PPT</a:t>
            </a:r>
            <a:r>
              <a:rPr lang="zh-CN" altLang="en-US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模板</a:t>
            </a:r>
            <a:r>
              <a:rPr lang="en-US" altLang="zh-CN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This is how you can showcase your project in a rather Morden way</a:t>
            </a:r>
          </a:p>
          <a:p>
            <a:endParaRPr lang="en-US" altLang="zh-CN" sz="1100" dirty="0">
              <a:latin typeface="Berlin Sans FB" panose="020E0602020502020306" pitchFamily="34" charset="0"/>
              <a:ea typeface="汉仪旗黑 Lenovo 60S" panose="00000500000000000000" pitchFamily="2" charset="-122"/>
            </a:endParaRPr>
          </a:p>
          <a:p>
            <a:r>
              <a:rPr lang="zh-CN" altLang="en-US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这是一个有关于如何讲工程类或者设计类项目进行展示的现代化</a:t>
            </a:r>
            <a:r>
              <a:rPr lang="en-US" altLang="zh-CN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PPT</a:t>
            </a:r>
            <a:r>
              <a:rPr lang="zh-CN" altLang="en-US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模板</a:t>
            </a:r>
            <a:endParaRPr lang="en-US" altLang="zh-CN" sz="1100" dirty="0">
              <a:latin typeface="Berlin Sans FB" panose="020E0602020502020306" pitchFamily="34" charset="0"/>
              <a:ea typeface="汉仪旗黑 Lenovo 60S" panose="00000500000000000000" pitchFamily="2" charset="-122"/>
            </a:endParaRPr>
          </a:p>
          <a:p>
            <a:r>
              <a:rPr lang="en-US" altLang="zh-CN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This is how you can showcase your project in a rather Morden way</a:t>
            </a:r>
            <a:r>
              <a:rPr lang="zh-CN" altLang="en-US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这是一个有关于如何讲工程类或者设计类项目进行展示的现代化</a:t>
            </a:r>
            <a:r>
              <a:rPr lang="en-US" altLang="zh-CN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PPT</a:t>
            </a:r>
            <a:r>
              <a:rPr lang="zh-CN" altLang="en-US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模板</a:t>
            </a:r>
            <a:r>
              <a:rPr lang="en-US" altLang="zh-CN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This is how you can showcase your project in a rather Morden way</a:t>
            </a:r>
          </a:p>
          <a:p>
            <a:endParaRPr lang="en-US" altLang="zh-CN" sz="1100" dirty="0">
              <a:latin typeface="Berlin Sans FB" panose="020E0602020502020306" pitchFamily="34" charset="0"/>
              <a:ea typeface="汉仪旗黑 Lenovo 60S" panose="00000500000000000000" pitchFamily="2" charset="-122"/>
            </a:endParaRPr>
          </a:p>
          <a:p>
            <a:r>
              <a:rPr lang="zh-CN" altLang="en-US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这是一个有关于如何讲工程类或者设计类项目进行展示的现代化</a:t>
            </a:r>
            <a:r>
              <a:rPr lang="en-US" altLang="zh-CN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PPT</a:t>
            </a:r>
            <a:r>
              <a:rPr lang="zh-CN" altLang="en-US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模板</a:t>
            </a:r>
            <a:endParaRPr lang="en-US" altLang="zh-CN" sz="1100" dirty="0">
              <a:latin typeface="Berlin Sans FB" panose="020E0602020502020306" pitchFamily="34" charset="0"/>
              <a:ea typeface="汉仪旗黑 Lenovo 60S" panose="00000500000000000000" pitchFamily="2" charset="-122"/>
            </a:endParaRPr>
          </a:p>
          <a:p>
            <a:r>
              <a:rPr lang="en-US" altLang="zh-CN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This is how you can showcase your project in a rather Morden way</a:t>
            </a:r>
            <a:r>
              <a:rPr lang="zh-CN" altLang="en-US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这是一个有关于如何讲工程类或者设计类项目进行展示的现代化</a:t>
            </a:r>
            <a:r>
              <a:rPr lang="en-US" altLang="zh-CN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PPT</a:t>
            </a:r>
            <a:r>
              <a:rPr lang="zh-CN" altLang="en-US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模板</a:t>
            </a:r>
            <a:r>
              <a:rPr lang="en-US" altLang="zh-CN" sz="11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This is how you can showcase your project in a rather Morden way</a:t>
            </a:r>
          </a:p>
          <a:p>
            <a:endParaRPr lang="en-US" altLang="zh-CN" sz="1100" dirty="0">
              <a:latin typeface="Berlin Sans FB" panose="020E0602020502020306" pitchFamily="34" charset="0"/>
              <a:ea typeface="汉仪旗黑 Lenovo 60S" panose="00000500000000000000" pitchFamily="2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0B7205AF-9658-E1FD-B47B-AAB96F0FDFA5}"/>
              </a:ext>
            </a:extLst>
          </p:cNvPr>
          <p:cNvCxnSpPr>
            <a:cxnSpLocks/>
          </p:cNvCxnSpPr>
          <p:nvPr/>
        </p:nvCxnSpPr>
        <p:spPr>
          <a:xfrm>
            <a:off x="3956451" y="3601274"/>
            <a:ext cx="0" cy="3098726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椭圆 15">
            <a:extLst>
              <a:ext uri="{FF2B5EF4-FFF2-40B4-BE49-F238E27FC236}">
                <a16:creationId xmlns:a16="http://schemas.microsoft.com/office/drawing/2014/main" id="{E8EDD8CB-2D6C-1C59-7166-939DD16B9B6B}"/>
              </a:ext>
            </a:extLst>
          </p:cNvPr>
          <p:cNvSpPr/>
          <p:nvPr/>
        </p:nvSpPr>
        <p:spPr>
          <a:xfrm>
            <a:off x="3908390" y="3818225"/>
            <a:ext cx="92333" cy="9233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519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90409-5C6C-5B59-F34A-6B602A20D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F978ABA-F7D6-0D43-5729-63EC379B448F}"/>
              </a:ext>
            </a:extLst>
          </p:cNvPr>
          <p:cNvGrpSpPr/>
          <p:nvPr/>
        </p:nvGrpSpPr>
        <p:grpSpPr>
          <a:xfrm>
            <a:off x="9901194" y="87807"/>
            <a:ext cx="1896306" cy="392992"/>
            <a:chOff x="8923071" y="87808"/>
            <a:chExt cx="3062320" cy="705516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5F5D5332-DA14-7673-6A73-518184AE6569}"/>
                </a:ext>
              </a:extLst>
            </p:cNvPr>
            <p:cNvSpPr txBox="1"/>
            <p:nvPr/>
          </p:nvSpPr>
          <p:spPr>
            <a:xfrm>
              <a:off x="8923071" y="461804"/>
              <a:ext cx="3062320" cy="3315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6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浙江大学人工智能学院</a:t>
              </a:r>
              <a:r>
                <a:rPr lang="zh-CN" altLang="en-US" sz="600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 </a:t>
              </a:r>
              <a:r>
                <a:rPr lang="en-US" altLang="zh-CN" sz="600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| </a:t>
              </a:r>
              <a:r>
                <a:rPr lang="en-US" altLang="zh-CN" sz="6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InLab </a:t>
              </a:r>
              <a:r>
                <a:rPr lang="zh-CN" altLang="en-US" sz="6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尤伟涛小组</a:t>
              </a:r>
              <a:r>
                <a:rPr lang="en-US" altLang="zh-CN" sz="6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 </a:t>
              </a:r>
              <a:endParaRPr lang="zh-CN" altLang="en-US" sz="600" b="1" dirty="0">
                <a:latin typeface="新宋体" panose="02010609030101010101" pitchFamily="49" charset="-122"/>
                <a:ea typeface="新宋体" panose="02010609030101010101" pitchFamily="49" charset="-122"/>
              </a:endParaRPr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366FA54C-AA85-B076-02D8-FC0161839F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11396" y="87808"/>
              <a:ext cx="2794214" cy="373994"/>
            </a:xfrm>
            <a:prstGeom prst="rect">
              <a:avLst/>
            </a:prstGeom>
          </p:spPr>
        </p:pic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B811F232-581E-B1D1-7A1D-0C39AAC18A25}"/>
              </a:ext>
            </a:extLst>
          </p:cNvPr>
          <p:cNvSpPr/>
          <p:nvPr/>
        </p:nvSpPr>
        <p:spPr>
          <a:xfrm>
            <a:off x="2508250" y="918948"/>
            <a:ext cx="9493250" cy="3081551"/>
          </a:xfrm>
          <a:prstGeom prst="rect">
            <a:avLst/>
          </a:prstGeom>
          <a:pattFill prst="dashHorz">
            <a:fgClr>
              <a:schemeClr val="tx2">
                <a:lumMod val="25000"/>
                <a:lumOff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7A112CA-8946-3360-4368-C489FD343583}"/>
              </a:ext>
            </a:extLst>
          </p:cNvPr>
          <p:cNvGrpSpPr/>
          <p:nvPr/>
        </p:nvGrpSpPr>
        <p:grpSpPr>
          <a:xfrm>
            <a:off x="2481580" y="4415439"/>
            <a:ext cx="2649220" cy="1725874"/>
            <a:chOff x="882760" y="634649"/>
            <a:chExt cx="2649220" cy="1725874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6B1DE47-4D7F-F15F-651F-5E30889D778E}"/>
                </a:ext>
              </a:extLst>
            </p:cNvPr>
            <p:cNvSpPr txBox="1"/>
            <p:nvPr/>
          </p:nvSpPr>
          <p:spPr>
            <a:xfrm>
              <a:off x="882760" y="634649"/>
              <a:ext cx="13030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Berlin Sans FB" panose="020E0602020502020306" pitchFamily="34" charset="0"/>
                  <a:ea typeface="汉仪旗黑 Lenovo 60S" panose="00000500000000000000" pitchFamily="2" charset="-122"/>
                </a:rPr>
                <a:t>Function 1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251F7B4B-F449-A6F6-CD34-2C486D81AD1D}"/>
                </a:ext>
              </a:extLst>
            </p:cNvPr>
            <p:cNvSpPr txBox="1"/>
            <p:nvPr/>
          </p:nvSpPr>
          <p:spPr>
            <a:xfrm>
              <a:off x="892164" y="1160194"/>
              <a:ext cx="2639816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latin typeface="+mj-ea"/>
                  <a:ea typeface="+mj-ea"/>
                </a:rPr>
                <a:t>/ </a:t>
              </a:r>
              <a:r>
                <a:rPr lang="zh-CN" altLang="en-US" sz="1400" dirty="0">
                  <a:latin typeface="+mj-ea"/>
                  <a:ea typeface="+mj-ea"/>
                </a:rPr>
                <a:t>功能简介</a:t>
              </a:r>
              <a:r>
                <a:rPr lang="en-US" altLang="zh-CN" sz="1400" dirty="0">
                  <a:latin typeface="+mj-ea"/>
                  <a:ea typeface="+mj-ea"/>
                </a:rPr>
                <a:t>1</a:t>
              </a:r>
            </a:p>
            <a:p>
              <a:endParaRPr lang="en-US" altLang="zh-CN" sz="1400" dirty="0">
                <a:latin typeface="+mj-ea"/>
                <a:ea typeface="+mj-ea"/>
              </a:endParaRPr>
            </a:p>
            <a:p>
              <a:r>
                <a:rPr lang="zh-CN" altLang="en-US" sz="1100" dirty="0">
                  <a:latin typeface="+mj-ea"/>
                  <a:ea typeface="+mj-ea"/>
                </a:rPr>
                <a:t>可以详细描述一下，扩展一下这里的内容。可以详细描述一下，扩展一下这里的内容。可以详细描述一下，扩展一下这里的内容。</a:t>
              </a:r>
              <a:endParaRPr lang="en-US" altLang="zh-CN" sz="1100" dirty="0">
                <a:latin typeface="+mj-ea"/>
                <a:ea typeface="+mj-ea"/>
              </a:endParaRPr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834BBDEE-D266-FCA7-7D10-D083135D2F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6610" y="1034759"/>
              <a:ext cx="1114870" cy="0"/>
            </a:xfrm>
            <a:prstGeom prst="line">
              <a:avLst/>
            </a:prstGeom>
            <a:ln w="31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DA2CEE63-33E3-F647-73C5-BF86F77134D8}"/>
              </a:ext>
            </a:extLst>
          </p:cNvPr>
          <p:cNvGrpSpPr/>
          <p:nvPr/>
        </p:nvGrpSpPr>
        <p:grpSpPr>
          <a:xfrm>
            <a:off x="5864482" y="4415439"/>
            <a:ext cx="2649220" cy="1941317"/>
            <a:chOff x="882760" y="634649"/>
            <a:chExt cx="2649220" cy="1941317"/>
          </a:xfrm>
        </p:grpSpPr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41BE456D-B05D-DCF7-2314-A3E166F496CC}"/>
                </a:ext>
              </a:extLst>
            </p:cNvPr>
            <p:cNvSpPr txBox="1"/>
            <p:nvPr/>
          </p:nvSpPr>
          <p:spPr>
            <a:xfrm>
              <a:off x="882760" y="634649"/>
              <a:ext cx="13999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Berlin Sans FB" panose="020E0602020502020306" pitchFamily="34" charset="0"/>
                  <a:ea typeface="汉仪旗黑 Lenovo 60S" panose="00000500000000000000" pitchFamily="2" charset="-122"/>
                </a:rPr>
                <a:t>Function 2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8A0F0C48-968F-7869-2EAF-43081A1E6F6B}"/>
                </a:ext>
              </a:extLst>
            </p:cNvPr>
            <p:cNvSpPr txBox="1"/>
            <p:nvPr/>
          </p:nvSpPr>
          <p:spPr>
            <a:xfrm>
              <a:off x="892164" y="1160194"/>
              <a:ext cx="2639816" cy="14157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latin typeface="+mj-ea"/>
                  <a:ea typeface="+mj-ea"/>
                </a:rPr>
                <a:t>/ </a:t>
              </a:r>
              <a:r>
                <a:rPr lang="zh-CN" altLang="en-US" sz="1400" dirty="0">
                  <a:latin typeface="+mj-ea"/>
                  <a:ea typeface="+mj-ea"/>
                </a:rPr>
                <a:t>功能简介</a:t>
              </a:r>
              <a:r>
                <a:rPr lang="en-US" altLang="zh-CN" sz="1400" dirty="0">
                  <a:latin typeface="+mj-ea"/>
                  <a:ea typeface="+mj-ea"/>
                </a:rPr>
                <a:t>2</a:t>
              </a:r>
            </a:p>
            <a:p>
              <a:endParaRPr lang="en-US" altLang="zh-CN" sz="1400" dirty="0">
                <a:latin typeface="+mj-ea"/>
                <a:ea typeface="+mj-ea"/>
              </a:endParaRPr>
            </a:p>
            <a:p>
              <a:endParaRPr lang="en-US" altLang="zh-CN" sz="1400" dirty="0">
                <a:latin typeface="+mj-ea"/>
                <a:ea typeface="+mj-ea"/>
              </a:endParaRPr>
            </a:p>
            <a:p>
              <a:r>
                <a:rPr lang="zh-CN" altLang="en-US" sz="1100" dirty="0">
                  <a:latin typeface="+mj-ea"/>
                  <a:ea typeface="+mj-ea"/>
                </a:rPr>
                <a:t>可以详细描述一下，扩展一下这里的内容。可以详细描述一下，扩展一下这里的内容。可以详细描述一下，扩展一下这里的内容。</a:t>
              </a:r>
              <a:endParaRPr lang="en-US" altLang="zh-CN" sz="1100" dirty="0">
                <a:latin typeface="+mj-ea"/>
                <a:ea typeface="+mj-ea"/>
              </a:endParaRPr>
            </a:p>
          </p:txBody>
        </p: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A7DC383D-C0FF-2469-D53E-D59181FBE7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6610" y="1034759"/>
              <a:ext cx="1135568" cy="0"/>
            </a:xfrm>
            <a:prstGeom prst="line">
              <a:avLst/>
            </a:prstGeom>
            <a:ln w="31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2C8558E4-F60C-163B-AC8D-D86A4C6A486A}"/>
              </a:ext>
            </a:extLst>
          </p:cNvPr>
          <p:cNvGrpSpPr/>
          <p:nvPr/>
        </p:nvGrpSpPr>
        <p:grpSpPr>
          <a:xfrm>
            <a:off x="9237980" y="4415439"/>
            <a:ext cx="2649220" cy="1725874"/>
            <a:chOff x="882760" y="634649"/>
            <a:chExt cx="2649220" cy="1725874"/>
          </a:xfrm>
        </p:grpSpPr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2603E89E-7A2A-B805-8C44-2635E2BF1741}"/>
                </a:ext>
              </a:extLst>
            </p:cNvPr>
            <p:cNvSpPr txBox="1"/>
            <p:nvPr/>
          </p:nvSpPr>
          <p:spPr>
            <a:xfrm>
              <a:off x="882760" y="634649"/>
              <a:ext cx="14294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Berlin Sans FB" panose="020E0602020502020306" pitchFamily="34" charset="0"/>
                  <a:ea typeface="汉仪旗黑 Lenovo 60S" panose="00000500000000000000" pitchFamily="2" charset="-122"/>
                </a:rPr>
                <a:t>Function 3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2C5AECE8-EECD-FE92-14C6-7C2F97BD7395}"/>
                </a:ext>
              </a:extLst>
            </p:cNvPr>
            <p:cNvSpPr txBox="1"/>
            <p:nvPr/>
          </p:nvSpPr>
          <p:spPr>
            <a:xfrm>
              <a:off x="892164" y="1160194"/>
              <a:ext cx="2639816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latin typeface="+mj-ea"/>
                  <a:ea typeface="+mj-ea"/>
                </a:rPr>
                <a:t>/ </a:t>
              </a:r>
              <a:r>
                <a:rPr lang="zh-CN" altLang="en-US" sz="1400" dirty="0">
                  <a:latin typeface="+mj-ea"/>
                  <a:ea typeface="+mj-ea"/>
                </a:rPr>
                <a:t>功能简介</a:t>
              </a:r>
              <a:r>
                <a:rPr lang="en-US" altLang="zh-CN" sz="1400" dirty="0">
                  <a:latin typeface="+mj-ea"/>
                  <a:ea typeface="+mj-ea"/>
                </a:rPr>
                <a:t>3</a:t>
              </a:r>
            </a:p>
            <a:p>
              <a:endParaRPr lang="en-US" altLang="zh-CN" sz="1400" dirty="0">
                <a:latin typeface="+mj-ea"/>
                <a:ea typeface="+mj-ea"/>
              </a:endParaRPr>
            </a:p>
            <a:p>
              <a:r>
                <a:rPr lang="zh-CN" altLang="en-US" sz="1100" dirty="0">
                  <a:latin typeface="+mj-ea"/>
                  <a:ea typeface="+mj-ea"/>
                </a:rPr>
                <a:t>可以详细描述一下，扩展一下这里的内容。可以详细描述一下，扩展一下这里的内容。可以详细描述一下，扩展一下这里的内容。</a:t>
              </a:r>
              <a:endParaRPr lang="en-US" altLang="zh-CN" sz="1100" dirty="0">
                <a:latin typeface="+mj-ea"/>
                <a:ea typeface="+mj-ea"/>
              </a:endParaRP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D0DFA5A0-72E6-DA0D-489C-2859E0393F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6610" y="1034759"/>
              <a:ext cx="1140270" cy="0"/>
            </a:xfrm>
            <a:prstGeom prst="line">
              <a:avLst/>
            </a:prstGeom>
            <a:ln w="31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矩形 32">
            <a:extLst>
              <a:ext uri="{FF2B5EF4-FFF2-40B4-BE49-F238E27FC236}">
                <a16:creationId xmlns:a16="http://schemas.microsoft.com/office/drawing/2014/main" id="{EDD4A29F-2690-2C45-E250-9DDF682EABD9}"/>
              </a:ext>
            </a:extLst>
          </p:cNvPr>
          <p:cNvSpPr/>
          <p:nvPr/>
        </p:nvSpPr>
        <p:spPr>
          <a:xfrm>
            <a:off x="982300" y="1299474"/>
            <a:ext cx="2408456" cy="57604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A1F028C-B684-3B8E-E91F-3B301C72174B}"/>
              </a:ext>
            </a:extLst>
          </p:cNvPr>
          <p:cNvSpPr txBox="1"/>
          <p:nvPr/>
        </p:nvSpPr>
        <p:spPr>
          <a:xfrm>
            <a:off x="-368300" y="858074"/>
            <a:ext cx="2701201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3800" dirty="0">
                <a:latin typeface="Berlin Sans FB Demi" panose="020E0802020502020306" pitchFamily="34" charset="0"/>
              </a:rPr>
              <a:t>05</a:t>
            </a:r>
          </a:p>
          <a:p>
            <a:pPr algn="r"/>
            <a:r>
              <a:rPr lang="zh-CN" altLang="en-US" sz="2800" dirty="0">
                <a:latin typeface="汉仪旗黑 Lenovo 60S" panose="00000500000000000000" pitchFamily="2" charset="-122"/>
                <a:ea typeface="汉仪旗黑 Lenovo 60S" panose="00000500000000000000" pitchFamily="2" charset="-122"/>
              </a:rPr>
              <a:t>展示内容</a:t>
            </a:r>
            <a:endParaRPr lang="en-US" altLang="zh-CN" sz="2800" dirty="0">
              <a:latin typeface="汉仪旗黑 Lenovo 60S" panose="00000500000000000000" pitchFamily="2" charset="-122"/>
              <a:ea typeface="汉仪旗黑 Lenovo 60S" panose="00000500000000000000" pitchFamily="2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B4AEAD8-38BB-49F4-2CA1-B692316E6331}"/>
              </a:ext>
            </a:extLst>
          </p:cNvPr>
          <p:cNvSpPr/>
          <p:nvPr/>
        </p:nvSpPr>
        <p:spPr>
          <a:xfrm>
            <a:off x="0" y="5943600"/>
            <a:ext cx="234950" cy="9144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CC3D7D0C-BC24-525D-A83A-1F004F750B5D}"/>
              </a:ext>
            </a:extLst>
          </p:cNvPr>
          <p:cNvCxnSpPr>
            <a:cxnSpLocks/>
          </p:cNvCxnSpPr>
          <p:nvPr/>
        </p:nvCxnSpPr>
        <p:spPr>
          <a:xfrm flipV="1">
            <a:off x="844850" y="0"/>
            <a:ext cx="0" cy="480799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椭圆 35">
            <a:extLst>
              <a:ext uri="{FF2B5EF4-FFF2-40B4-BE49-F238E27FC236}">
                <a16:creationId xmlns:a16="http://schemas.microsoft.com/office/drawing/2014/main" id="{F044A632-EC4A-3BAD-8880-3342B204E486}"/>
              </a:ext>
            </a:extLst>
          </p:cNvPr>
          <p:cNvSpPr/>
          <p:nvPr/>
        </p:nvSpPr>
        <p:spPr>
          <a:xfrm>
            <a:off x="752517" y="388466"/>
            <a:ext cx="184666" cy="18466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1549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D9DA6-D0E9-0423-ED06-4FD668F64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CF16876-A668-3889-EF68-BB3FD53608E5}"/>
              </a:ext>
            </a:extLst>
          </p:cNvPr>
          <p:cNvSpPr/>
          <p:nvPr/>
        </p:nvSpPr>
        <p:spPr>
          <a:xfrm>
            <a:off x="2048933" y="2207537"/>
            <a:ext cx="10143067" cy="152923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3689EFDF-96D6-A622-0CB5-EFAC986743F4}"/>
              </a:ext>
            </a:extLst>
          </p:cNvPr>
          <p:cNvCxnSpPr>
            <a:cxnSpLocks/>
          </p:cNvCxnSpPr>
          <p:nvPr/>
        </p:nvCxnSpPr>
        <p:spPr>
          <a:xfrm flipV="1">
            <a:off x="844850" y="0"/>
            <a:ext cx="0" cy="480799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椭圆 3">
            <a:extLst>
              <a:ext uri="{FF2B5EF4-FFF2-40B4-BE49-F238E27FC236}">
                <a16:creationId xmlns:a16="http://schemas.microsoft.com/office/drawing/2014/main" id="{5A292ECC-28AD-72C4-4432-B6715ED1879E}"/>
              </a:ext>
            </a:extLst>
          </p:cNvPr>
          <p:cNvSpPr/>
          <p:nvPr/>
        </p:nvSpPr>
        <p:spPr>
          <a:xfrm>
            <a:off x="752517" y="354019"/>
            <a:ext cx="184666" cy="18466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28A4CD1-3525-AA20-7CD8-FC17EAB24299}"/>
              </a:ext>
            </a:extLst>
          </p:cNvPr>
          <p:cNvGrpSpPr/>
          <p:nvPr/>
        </p:nvGrpSpPr>
        <p:grpSpPr>
          <a:xfrm>
            <a:off x="9901194" y="87807"/>
            <a:ext cx="1896306" cy="392992"/>
            <a:chOff x="8923071" y="87808"/>
            <a:chExt cx="3062320" cy="705516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2A737FCD-D3DF-74C8-2F46-4CBE103BEE3F}"/>
                </a:ext>
              </a:extLst>
            </p:cNvPr>
            <p:cNvSpPr txBox="1"/>
            <p:nvPr/>
          </p:nvSpPr>
          <p:spPr>
            <a:xfrm>
              <a:off x="8923071" y="461804"/>
              <a:ext cx="3062320" cy="3315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6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浙江大学人工智能学院</a:t>
              </a:r>
              <a:r>
                <a:rPr lang="zh-CN" altLang="en-US" sz="600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 </a:t>
              </a:r>
              <a:r>
                <a:rPr lang="en-US" altLang="zh-CN" sz="600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| </a:t>
              </a:r>
              <a:r>
                <a:rPr lang="en-US" altLang="zh-CN" sz="6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InLab </a:t>
              </a:r>
              <a:r>
                <a:rPr lang="zh-CN" altLang="en-US" sz="6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尤伟涛小组</a:t>
              </a:r>
              <a:r>
                <a:rPr lang="en-US" altLang="zh-CN" sz="600" b="1" dirty="0">
                  <a:latin typeface="新宋体" panose="02010609030101010101" pitchFamily="49" charset="-122"/>
                  <a:ea typeface="新宋体" panose="02010609030101010101" pitchFamily="49" charset="-122"/>
                </a:rPr>
                <a:t> </a:t>
              </a:r>
              <a:endParaRPr lang="zh-CN" altLang="en-US" sz="600" b="1" dirty="0">
                <a:latin typeface="新宋体" panose="02010609030101010101" pitchFamily="49" charset="-122"/>
                <a:ea typeface="新宋体" panose="02010609030101010101" pitchFamily="49" charset="-122"/>
              </a:endParaRPr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A7EE7FD0-AE45-9F7D-B41F-F0E6436285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11396" y="87808"/>
              <a:ext cx="2794214" cy="373994"/>
            </a:xfrm>
            <a:prstGeom prst="rect">
              <a:avLst/>
            </a:prstGeom>
          </p:spPr>
        </p:pic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51A722D1-3CEE-C6B3-0ED5-49328ED33BAD}"/>
              </a:ext>
            </a:extLst>
          </p:cNvPr>
          <p:cNvSpPr txBox="1"/>
          <p:nvPr/>
        </p:nvSpPr>
        <p:spPr>
          <a:xfrm>
            <a:off x="7064320" y="1910327"/>
            <a:ext cx="396562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dirty="0">
                <a:latin typeface="汉仪旗黑 Lenovo 60S" panose="00000500000000000000" pitchFamily="2" charset="-122"/>
                <a:ea typeface="汉仪旗黑 Lenovo 60S" panose="00000500000000000000" pitchFamily="2" charset="-122"/>
              </a:rPr>
              <a:t>感谢聆听</a:t>
            </a:r>
            <a:endParaRPr lang="en-US" altLang="zh-CN" sz="6600" dirty="0">
              <a:latin typeface="汉仪旗黑 Lenovo 60S" panose="00000500000000000000" pitchFamily="2" charset="-122"/>
              <a:ea typeface="汉仪旗黑 Lenovo 60S" panose="00000500000000000000" pitchFamily="2" charset="-122"/>
            </a:endParaRPr>
          </a:p>
          <a:p>
            <a:r>
              <a:rPr lang="en-US" altLang="zh-CN" sz="6600" dirty="0">
                <a:latin typeface="Berlin Sans FB Demi" panose="020E0802020502020306" pitchFamily="34" charset="0"/>
              </a:rPr>
              <a:t>THANKS</a:t>
            </a:r>
            <a:endParaRPr lang="zh-CN" altLang="en-US" sz="6600" dirty="0">
              <a:latin typeface="Berlin Sans FB Demi" panose="020E0802020502020306" pitchFamily="34" charset="0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18E63E49-2071-2A05-880D-09D108F9D582}"/>
              </a:ext>
            </a:extLst>
          </p:cNvPr>
          <p:cNvCxnSpPr>
            <a:cxnSpLocks/>
          </p:cNvCxnSpPr>
          <p:nvPr/>
        </p:nvCxnSpPr>
        <p:spPr>
          <a:xfrm>
            <a:off x="0" y="2713942"/>
            <a:ext cx="1644650" cy="0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椭圆 11">
            <a:extLst>
              <a:ext uri="{FF2B5EF4-FFF2-40B4-BE49-F238E27FC236}">
                <a16:creationId xmlns:a16="http://schemas.microsoft.com/office/drawing/2014/main" id="{78C4E9E9-12F2-6749-6B89-DB299363D969}"/>
              </a:ext>
            </a:extLst>
          </p:cNvPr>
          <p:cNvSpPr/>
          <p:nvPr/>
        </p:nvSpPr>
        <p:spPr>
          <a:xfrm>
            <a:off x="1644650" y="2659725"/>
            <a:ext cx="108434" cy="10843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B99D499-58DB-C5A0-21B8-5D5DBEEDCDAF}"/>
              </a:ext>
            </a:extLst>
          </p:cNvPr>
          <p:cNvSpPr txBox="1"/>
          <p:nvPr/>
        </p:nvSpPr>
        <p:spPr>
          <a:xfrm>
            <a:off x="2048933" y="1253430"/>
            <a:ext cx="17305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汇报展示人：</a:t>
            </a:r>
            <a:endParaRPr lang="en-US" altLang="zh-CN" sz="1400" dirty="0">
              <a:latin typeface="Berlin Sans FB" panose="020E0602020502020306" pitchFamily="34" charset="0"/>
              <a:ea typeface="汉仪旗黑 Lenovo 60S" panose="00000500000000000000" pitchFamily="2" charset="-122"/>
            </a:endParaRPr>
          </a:p>
          <a:p>
            <a:endParaRPr lang="en-US" altLang="zh-CN" sz="1400" dirty="0">
              <a:latin typeface="Berlin Sans FB" panose="020E0602020502020306" pitchFamily="34" charset="0"/>
              <a:ea typeface="汉仪旗黑 Lenovo 60S" panose="00000500000000000000" pitchFamily="2" charset="-122"/>
            </a:endParaRPr>
          </a:p>
          <a:p>
            <a:r>
              <a:rPr lang="zh-CN" altLang="en-US" sz="14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王子懿 </a:t>
            </a:r>
            <a:r>
              <a:rPr lang="en-US" altLang="zh-CN" sz="14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&amp; </a:t>
            </a:r>
            <a:r>
              <a:rPr lang="zh-CN" altLang="en-US" sz="14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卢峰杰</a:t>
            </a:r>
            <a:endParaRPr lang="en-US" altLang="zh-CN" sz="1400" dirty="0">
              <a:latin typeface="Berlin Sans FB" panose="020E0602020502020306" pitchFamily="34" charset="0"/>
              <a:ea typeface="汉仪旗黑 Lenovo 60S" panose="00000500000000000000" pitchFamily="2" charset="-122"/>
            </a:endParaRPr>
          </a:p>
          <a:p>
            <a:r>
              <a:rPr lang="en-US" altLang="zh-CN" sz="1400" dirty="0">
                <a:latin typeface="+mj-ea"/>
                <a:ea typeface="+mj-ea"/>
              </a:rPr>
              <a:t>/ </a:t>
            </a:r>
            <a:r>
              <a:rPr lang="zh-CN" altLang="en-US" sz="1400" dirty="0">
                <a:latin typeface="+mj-ea"/>
                <a:ea typeface="+mj-ea"/>
              </a:rPr>
              <a:t>所属于尤伟涛小组</a:t>
            </a:r>
            <a:endParaRPr lang="en-US" altLang="zh-CN" sz="1400" dirty="0">
              <a:latin typeface="+mj-ea"/>
              <a:ea typeface="+mj-ea"/>
            </a:endParaRP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B921E188-04C1-479A-03E4-9DC0A6C188C8}"/>
              </a:ext>
            </a:extLst>
          </p:cNvPr>
          <p:cNvCxnSpPr>
            <a:cxnSpLocks/>
          </p:cNvCxnSpPr>
          <p:nvPr/>
        </p:nvCxnSpPr>
        <p:spPr>
          <a:xfrm flipV="1">
            <a:off x="10849347" y="3026586"/>
            <a:ext cx="0" cy="3500067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D0A326B6-4A54-B5F9-1646-5110C5C2D817}"/>
              </a:ext>
            </a:extLst>
          </p:cNvPr>
          <p:cNvSpPr txBox="1"/>
          <p:nvPr/>
        </p:nvSpPr>
        <p:spPr>
          <a:xfrm>
            <a:off x="2048933" y="4046311"/>
            <a:ext cx="25831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Ziyi Wang | </a:t>
            </a:r>
            <a:r>
              <a:rPr lang="zh-CN" altLang="en-US" sz="20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王子懿</a:t>
            </a:r>
            <a:endParaRPr lang="en-US" altLang="zh-CN" sz="2000" dirty="0">
              <a:latin typeface="Berlin Sans FB" panose="020E0602020502020306" pitchFamily="34" charset="0"/>
              <a:ea typeface="汉仪旗黑 Lenovo 60S" panose="00000500000000000000" pitchFamily="2" charset="-122"/>
            </a:endParaRPr>
          </a:p>
          <a:p>
            <a:r>
              <a:rPr lang="en-US" altLang="zh-CN" sz="1400" dirty="0">
                <a:latin typeface="+mj-ea"/>
                <a:ea typeface="+mj-ea"/>
              </a:rPr>
              <a:t>/ </a:t>
            </a:r>
            <a:r>
              <a:rPr lang="zh-CN" altLang="en-US" sz="1400" dirty="0">
                <a:latin typeface="+mj-ea"/>
                <a:ea typeface="+mj-ea"/>
              </a:rPr>
              <a:t>联系方式：</a:t>
            </a:r>
            <a:endParaRPr lang="en-US" altLang="zh-CN" sz="1400" dirty="0">
              <a:latin typeface="+mj-ea"/>
              <a:ea typeface="+mj-ea"/>
            </a:endParaRPr>
          </a:p>
          <a:p>
            <a:r>
              <a:rPr lang="en-US" altLang="zh-CN" sz="1400" dirty="0">
                <a:latin typeface="+mj-ea"/>
                <a:ea typeface="+mj-ea"/>
              </a:rPr>
              <a:t>1111111111@zju.edu.cn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E2CAA298-DE51-3A6B-6227-2CAD9DCED765}"/>
              </a:ext>
            </a:extLst>
          </p:cNvPr>
          <p:cNvSpPr txBox="1"/>
          <p:nvPr/>
        </p:nvSpPr>
        <p:spPr>
          <a:xfrm>
            <a:off x="4760819" y="4046310"/>
            <a:ext cx="25831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latin typeface="Berlin Sans FB" panose="020E0602020502020306" pitchFamily="34" charset="0"/>
                <a:ea typeface="汉仪旗黑 Lenovo 60S" panose="00000500000000000000" pitchFamily="2" charset="-122"/>
              </a:rPr>
              <a:t>Fengjie</a:t>
            </a:r>
            <a:r>
              <a:rPr lang="en-US" altLang="zh-CN" sz="20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 Lu | </a:t>
            </a:r>
            <a:r>
              <a:rPr lang="zh-CN" altLang="en-US" sz="2000" dirty="0">
                <a:latin typeface="Berlin Sans FB" panose="020E0602020502020306" pitchFamily="34" charset="0"/>
                <a:ea typeface="汉仪旗黑 Lenovo 60S" panose="00000500000000000000" pitchFamily="2" charset="-122"/>
              </a:rPr>
              <a:t>卢峰杰</a:t>
            </a:r>
            <a:endParaRPr lang="en-US" altLang="zh-CN" sz="2000" dirty="0">
              <a:latin typeface="Berlin Sans FB" panose="020E0602020502020306" pitchFamily="34" charset="0"/>
              <a:ea typeface="汉仪旗黑 Lenovo 60S" panose="00000500000000000000" pitchFamily="2" charset="-122"/>
            </a:endParaRPr>
          </a:p>
          <a:p>
            <a:r>
              <a:rPr lang="en-US" altLang="zh-CN" sz="1400" dirty="0">
                <a:latin typeface="+mj-ea"/>
                <a:ea typeface="+mj-ea"/>
              </a:rPr>
              <a:t>/ </a:t>
            </a:r>
            <a:r>
              <a:rPr lang="zh-CN" altLang="en-US" sz="1400" dirty="0">
                <a:latin typeface="+mj-ea"/>
                <a:ea typeface="+mj-ea"/>
              </a:rPr>
              <a:t>联系方式：</a:t>
            </a:r>
            <a:endParaRPr lang="en-US" altLang="zh-CN" sz="1400" dirty="0">
              <a:latin typeface="+mj-ea"/>
              <a:ea typeface="+mj-ea"/>
            </a:endParaRPr>
          </a:p>
          <a:p>
            <a:r>
              <a:rPr lang="en-US" altLang="zh-CN" sz="1400" dirty="0">
                <a:latin typeface="+mj-ea"/>
                <a:ea typeface="+mj-ea"/>
              </a:rPr>
              <a:t>1111111111@zju.edu.cn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3D2F6F8-584F-95AE-82B2-E48DEED61AF5}"/>
              </a:ext>
            </a:extLst>
          </p:cNvPr>
          <p:cNvSpPr/>
          <p:nvPr/>
        </p:nvSpPr>
        <p:spPr>
          <a:xfrm>
            <a:off x="2189013" y="4960427"/>
            <a:ext cx="1608655" cy="1470458"/>
          </a:xfrm>
          <a:prstGeom prst="rect">
            <a:avLst/>
          </a:prstGeom>
          <a:pattFill prst="dashHorz">
            <a:fgClr>
              <a:schemeClr val="tx2">
                <a:lumMod val="25000"/>
                <a:lumOff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48DADC4-D8C2-100E-1840-7F924563E35E}"/>
              </a:ext>
            </a:extLst>
          </p:cNvPr>
          <p:cNvSpPr/>
          <p:nvPr/>
        </p:nvSpPr>
        <p:spPr>
          <a:xfrm>
            <a:off x="5008413" y="4960427"/>
            <a:ext cx="1608655" cy="1470458"/>
          </a:xfrm>
          <a:prstGeom prst="rect">
            <a:avLst/>
          </a:prstGeom>
          <a:pattFill prst="dashHorz">
            <a:fgClr>
              <a:schemeClr val="tx2">
                <a:lumMod val="25000"/>
                <a:lumOff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9066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1253</Words>
  <Application>Microsoft Office PowerPoint</Application>
  <PresentationFormat>宽屏</PresentationFormat>
  <Paragraphs>150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等线</vt:lpstr>
      <vt:lpstr>等线 Light</vt:lpstr>
      <vt:lpstr>汉仪旗黑 Lenovo 60S</vt:lpstr>
      <vt:lpstr>新宋体</vt:lpstr>
      <vt:lpstr>Arial</vt:lpstr>
      <vt:lpstr>Berlin Sans FB</vt:lpstr>
      <vt:lpstr>Berlin Sans FB Demi</vt:lpstr>
      <vt:lpstr>Bodoni MT Black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Ziyi Wang</dc:creator>
  <cp:lastModifiedBy>Ziyi Wang</cp:lastModifiedBy>
  <cp:revision>68</cp:revision>
  <dcterms:created xsi:type="dcterms:W3CDTF">2026-06-25T02:20:29Z</dcterms:created>
  <dcterms:modified xsi:type="dcterms:W3CDTF">2026-06-25T05:38:54Z</dcterms:modified>
</cp:coreProperties>
</file>